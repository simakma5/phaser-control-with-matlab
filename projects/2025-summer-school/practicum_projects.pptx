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60" r:id="rId7"/>
    <p:sldId id="261" r:id="rId8"/>
    <p:sldId id="262" r:id="rId9"/>
    <p:sldId id="266" r:id="rId10"/>
    <p:sldId id="267" r:id="rId11"/>
    <p:sldId id="258" r:id="rId12"/>
    <p:sldId id="259" r:id="rId13"/>
    <p:sldId id="263" r:id="rId14"/>
    <p:sldId id="264" r:id="rId15"/>
    <p:sldId id="265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76937-B834-7427-4AE8-C2B1A0A69242}" v="138" dt="2026-06-09T09:16:09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gxu Zhao" userId="S::czhao2@tudelft.nl::7261b44e-9be9-4d1c-a7ea-9f46e1d1e902" providerId="AD" clId="Web-{86A76937-B834-7427-4AE8-C2B1A0A69242}"/>
    <pc:docChg chg="addSld modSld">
      <pc:chgData name="Changxu Zhao" userId="S::czhao2@tudelft.nl::7261b44e-9be9-4d1c-a7ea-9f46e1d1e902" providerId="AD" clId="Web-{86A76937-B834-7427-4AE8-C2B1A0A69242}" dt="2026-06-09T09:16:09.203" v="137" actId="20577"/>
      <pc:docMkLst>
        <pc:docMk/>
      </pc:docMkLst>
      <pc:sldChg chg="modSp">
        <pc:chgData name="Changxu Zhao" userId="S::czhao2@tudelft.nl::7261b44e-9be9-4d1c-a7ea-9f46e1d1e902" providerId="AD" clId="Web-{86A76937-B834-7427-4AE8-C2B1A0A69242}" dt="2026-06-09T09:16:09.203" v="137" actId="20577"/>
        <pc:sldMkLst>
          <pc:docMk/>
          <pc:sldMk cId="3143436398" sldId="269"/>
        </pc:sldMkLst>
        <pc:spChg chg="mod">
          <ac:chgData name="Changxu Zhao" userId="S::czhao2@tudelft.nl::7261b44e-9be9-4d1c-a7ea-9f46e1d1e902" providerId="AD" clId="Web-{86A76937-B834-7427-4AE8-C2B1A0A69242}" dt="2026-06-09T09:16:09.203" v="137" actId="20577"/>
          <ac:spMkLst>
            <pc:docMk/>
            <pc:sldMk cId="3143436398" sldId="269"/>
            <ac:spMk id="3" creationId="{B3D7D146-1E44-E401-2D0E-537BC52FF5A5}"/>
          </ac:spMkLst>
        </pc:spChg>
      </pc:sldChg>
      <pc:sldChg chg="addSp modSp">
        <pc:chgData name="Changxu Zhao" userId="S::czhao2@tudelft.nl::7261b44e-9be9-4d1c-a7ea-9f46e1d1e902" providerId="AD" clId="Web-{86A76937-B834-7427-4AE8-C2B1A0A69242}" dt="2026-06-09T09:11:29.897" v="23" actId="1076"/>
        <pc:sldMkLst>
          <pc:docMk/>
          <pc:sldMk cId="3817252994" sldId="270"/>
        </pc:sldMkLst>
        <pc:spChg chg="mod">
          <ac:chgData name="Changxu Zhao" userId="S::czhao2@tudelft.nl::7261b44e-9be9-4d1c-a7ea-9f46e1d1e902" providerId="AD" clId="Web-{86A76937-B834-7427-4AE8-C2B1A0A69242}" dt="2026-06-09T09:10:15.629" v="0" actId="14100"/>
          <ac:spMkLst>
            <pc:docMk/>
            <pc:sldMk cId="3817252994" sldId="270"/>
            <ac:spMk id="3" creationId="{5ACAD663-6543-1AA7-91D0-74377513E915}"/>
          </ac:spMkLst>
        </pc:spChg>
        <pc:picChg chg="add mod">
          <ac:chgData name="Changxu Zhao" userId="S::czhao2@tudelft.nl::7261b44e-9be9-4d1c-a7ea-9f46e1d1e902" providerId="AD" clId="Web-{86A76937-B834-7427-4AE8-C2B1A0A69242}" dt="2026-06-09T09:11:10.194" v="10" actId="14100"/>
          <ac:picMkLst>
            <pc:docMk/>
            <pc:sldMk cId="3817252994" sldId="270"/>
            <ac:picMk id="4" creationId="{3FBBB514-18E9-61C0-1721-4AF2A8446EA8}"/>
          </ac:picMkLst>
        </pc:picChg>
        <pc:picChg chg="add mod">
          <ac:chgData name="Changxu Zhao" userId="S::czhao2@tudelft.nl::7261b44e-9be9-4d1c-a7ea-9f46e1d1e902" providerId="AD" clId="Web-{86A76937-B834-7427-4AE8-C2B1A0A69242}" dt="2026-06-09T09:11:23.194" v="18" actId="14100"/>
          <ac:picMkLst>
            <pc:docMk/>
            <pc:sldMk cId="3817252994" sldId="270"/>
            <ac:picMk id="5" creationId="{4F776C06-8EB9-C4C9-58D1-775E2B3EDD64}"/>
          </ac:picMkLst>
        </pc:picChg>
        <pc:picChg chg="add mod">
          <ac:chgData name="Changxu Zhao" userId="S::czhao2@tudelft.nl::7261b44e-9be9-4d1c-a7ea-9f46e1d1e902" providerId="AD" clId="Web-{86A76937-B834-7427-4AE8-C2B1A0A69242}" dt="2026-06-09T09:11:29.897" v="23" actId="1076"/>
          <ac:picMkLst>
            <pc:docMk/>
            <pc:sldMk cId="3817252994" sldId="270"/>
            <ac:picMk id="6" creationId="{FD544D44-A76C-186A-9813-030B78963531}"/>
          </ac:picMkLst>
        </pc:picChg>
      </pc:sldChg>
      <pc:sldChg chg="addSp delSp modSp new">
        <pc:chgData name="Changxu Zhao" userId="S::czhao2@tudelft.nl::7261b44e-9be9-4d1c-a7ea-9f46e1d1e902" providerId="AD" clId="Web-{86A76937-B834-7427-4AE8-C2B1A0A69242}" dt="2026-06-09T09:12:17.133" v="35" actId="14100"/>
        <pc:sldMkLst>
          <pc:docMk/>
          <pc:sldMk cId="4119527305" sldId="271"/>
        </pc:sldMkLst>
        <pc:spChg chg="del">
          <ac:chgData name="Changxu Zhao" userId="S::czhao2@tudelft.nl::7261b44e-9be9-4d1c-a7ea-9f46e1d1e902" providerId="AD" clId="Web-{86A76937-B834-7427-4AE8-C2B1A0A69242}" dt="2026-06-09T09:11:50.945" v="26"/>
          <ac:spMkLst>
            <pc:docMk/>
            <pc:sldMk cId="4119527305" sldId="271"/>
            <ac:spMk id="2" creationId="{9E6A037E-86D9-9ED0-2DDD-896FE14EDED9}"/>
          </ac:spMkLst>
        </pc:spChg>
        <pc:spChg chg="del">
          <ac:chgData name="Changxu Zhao" userId="S::czhao2@tudelft.nl::7261b44e-9be9-4d1c-a7ea-9f46e1d1e902" providerId="AD" clId="Web-{86A76937-B834-7427-4AE8-C2B1A0A69242}" dt="2026-06-09T09:11:48.789" v="25"/>
          <ac:spMkLst>
            <pc:docMk/>
            <pc:sldMk cId="4119527305" sldId="271"/>
            <ac:spMk id="3" creationId="{429673A9-3F00-561C-A24D-83868394EC6D}"/>
          </ac:spMkLst>
        </pc:spChg>
        <pc:spChg chg="add mod">
          <ac:chgData name="Changxu Zhao" userId="S::czhao2@tudelft.nl::7261b44e-9be9-4d1c-a7ea-9f46e1d1e902" providerId="AD" clId="Web-{86A76937-B834-7427-4AE8-C2B1A0A69242}" dt="2026-06-09T09:11:51.914" v="27"/>
          <ac:spMkLst>
            <pc:docMk/>
            <pc:sldMk cId="4119527305" sldId="271"/>
            <ac:spMk id="5" creationId="{B9F82A40-F284-527E-B6ED-C1DE04DD624E}"/>
          </ac:spMkLst>
        </pc:spChg>
        <pc:spChg chg="add mod">
          <ac:chgData name="Changxu Zhao" userId="S::czhao2@tudelft.nl::7261b44e-9be9-4d1c-a7ea-9f46e1d1e902" providerId="AD" clId="Web-{86A76937-B834-7427-4AE8-C2B1A0A69242}" dt="2026-06-09T09:11:58.023" v="30" actId="20577"/>
          <ac:spMkLst>
            <pc:docMk/>
            <pc:sldMk cId="4119527305" sldId="271"/>
            <ac:spMk id="7" creationId="{637715E2-A81F-8317-40B0-7044D23A5D50}"/>
          </ac:spMkLst>
        </pc:spChg>
        <pc:picChg chg="add mod">
          <ac:chgData name="Changxu Zhao" userId="S::czhao2@tudelft.nl::7261b44e-9be9-4d1c-a7ea-9f46e1d1e902" providerId="AD" clId="Web-{86A76937-B834-7427-4AE8-C2B1A0A69242}" dt="2026-06-09T09:12:17.133" v="35" actId="14100"/>
          <ac:picMkLst>
            <pc:docMk/>
            <pc:sldMk cId="4119527305" sldId="271"/>
            <ac:picMk id="8" creationId="{CF0E6E24-569C-8341-7698-5032CEDD7BED}"/>
          </ac:picMkLst>
        </pc:picChg>
      </pc:sldChg>
      <pc:sldChg chg="addSp delSp modSp add replId">
        <pc:chgData name="Changxu Zhao" userId="S::czhao2@tudelft.nl::7261b44e-9be9-4d1c-a7ea-9f46e1d1e902" providerId="AD" clId="Web-{86A76937-B834-7427-4AE8-C2B1A0A69242}" dt="2026-06-09T09:13:11.307" v="54" actId="14100"/>
        <pc:sldMkLst>
          <pc:docMk/>
          <pc:sldMk cId="675640398" sldId="272"/>
        </pc:sldMkLst>
        <pc:spChg chg="mod">
          <ac:chgData name="Changxu Zhao" userId="S::czhao2@tudelft.nl::7261b44e-9be9-4d1c-a7ea-9f46e1d1e902" providerId="AD" clId="Web-{86A76937-B834-7427-4AE8-C2B1A0A69242}" dt="2026-06-09T09:13:11.307" v="54" actId="14100"/>
          <ac:spMkLst>
            <pc:docMk/>
            <pc:sldMk cId="675640398" sldId="272"/>
            <ac:spMk id="7" creationId="{3B95344C-067D-FBFF-E628-3BE69E904D82}"/>
          </ac:spMkLst>
        </pc:spChg>
        <pc:picChg chg="add mod">
          <ac:chgData name="Changxu Zhao" userId="S::czhao2@tudelft.nl::7261b44e-9be9-4d1c-a7ea-9f46e1d1e902" providerId="AD" clId="Web-{86A76937-B834-7427-4AE8-C2B1A0A69242}" dt="2026-06-09T09:13:08.854" v="53" actId="1076"/>
          <ac:picMkLst>
            <pc:docMk/>
            <pc:sldMk cId="675640398" sldId="272"/>
            <ac:picMk id="2" creationId="{D9D1975A-164B-EC8A-DAF2-09F4745CDF4F}"/>
          </ac:picMkLst>
        </pc:picChg>
        <pc:picChg chg="add del mod">
          <ac:chgData name="Changxu Zhao" userId="S::czhao2@tudelft.nl::7261b44e-9be9-4d1c-a7ea-9f46e1d1e902" providerId="AD" clId="Web-{86A76937-B834-7427-4AE8-C2B1A0A69242}" dt="2026-06-09T09:12:48.197" v="48"/>
          <ac:picMkLst>
            <pc:docMk/>
            <pc:sldMk cId="675640398" sldId="272"/>
            <ac:picMk id="3" creationId="{C98B1D92-DCB7-86FF-2028-1D06BCB7522D}"/>
          </ac:picMkLst>
        </pc:picChg>
        <pc:picChg chg="add mod">
          <ac:chgData name="Changxu Zhao" userId="S::czhao2@tudelft.nl::7261b44e-9be9-4d1c-a7ea-9f46e1d1e902" providerId="AD" clId="Web-{86A76937-B834-7427-4AE8-C2B1A0A69242}" dt="2026-06-09T09:13:06.276" v="52" actId="1076"/>
          <ac:picMkLst>
            <pc:docMk/>
            <pc:sldMk cId="675640398" sldId="272"/>
            <ac:picMk id="4" creationId="{426ABFB1-A9DE-C386-8CAA-F56C169F2B06}"/>
          </ac:picMkLst>
        </pc:picChg>
        <pc:picChg chg="del">
          <ac:chgData name="Changxu Zhao" userId="S::czhao2@tudelft.nl::7261b44e-9be9-4d1c-a7ea-9f46e1d1e902" providerId="AD" clId="Web-{86A76937-B834-7427-4AE8-C2B1A0A69242}" dt="2026-06-09T09:12:29.931" v="44"/>
          <ac:picMkLst>
            <pc:docMk/>
            <pc:sldMk cId="675640398" sldId="272"/>
            <ac:picMk id="8" creationId="{8F374F99-72BA-0FB7-C454-2C2A967B8A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3FD62-1FA5-4F51-8B11-8004314D429A}" type="datetimeFigureOut">
              <a:t>6/9/2026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D87B0-4A10-4300-B04C-03F1B3F2405D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480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87B0-4A10-4300-B04C-03F1B3F2405D}" type="slidenum"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161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+mn-lt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87B0-4A10-4300-B04C-03F1B3F2405D}" type="slidenum"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604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87B0-4A10-4300-B04C-03F1B3F2405D}" type="slidenum"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190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87B0-4A10-4300-B04C-03F1B3F2405D}" type="slidenum"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123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87B0-4A10-4300-B04C-03F1B3F2405D}" type="slidenum"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13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F916E-F031-54A5-4B4F-19EF8B9E8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98621C7-FB3F-F056-D5E3-8729E3431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6478C4-4F4B-C3B3-07CC-2AAAAF6E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CE6A08C-4B49-138D-0C8F-C1AED33F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1FD590-BD6D-5B6E-98F1-F8D7F024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887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34669-3212-4D2E-FCD9-19CCAE1C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D2AAE1-FBA9-D02F-DA26-9341FE93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0325BC-EF2C-12C9-2DDE-62DE1631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DC5101-4EC0-20AD-AAEF-C9971EDC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3317D4-27E5-B954-80C8-1CB20C22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53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FDC35-1BAA-9D7C-F708-7FAA3E81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F54593-7F24-2758-D8AF-000EB2E62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A8D34A-343A-8D0E-E0F9-8BF93D528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BABACB-0FEE-02FD-E7A9-E15816C9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D4736B-1297-8FFB-840C-5DB32C83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582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63212-828E-6AC3-9436-EF857A66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565284-A4A6-EE24-66B3-3C47C5260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11D623-6C80-C804-4311-3821F5F70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3DE5D01-D689-15A0-9D9D-FCE34C52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BF3076E-792F-E163-A35B-7F8BE53C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22DE569-A095-FC9A-4751-53A592AB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210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F720-4F39-5EFC-C87E-852237E1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53B7D5A-600F-82F7-DB7C-C45EBC16D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1CBB640-F415-3E06-4DBD-9657AC321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7BF42D8-41BD-0B74-69E7-23C79816B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2145593-1A5F-223C-EB3D-2356FE29D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61DB54E-5A42-B626-B11F-070EB418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3FA7942-F35B-1A4D-44FB-5A2B7E26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5B88405-F330-5910-D98F-FEF908F4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85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2E336-F252-C9C7-20FF-797A1A48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714B627-9140-022E-04AA-D1D6264A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E3B676-650C-D38D-9A52-EBFF6DEA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302CB62-757B-B897-14E2-8065FCC0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891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62A733C-8A6D-77F2-BB46-159DAD88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ED67634-DB2A-3E3F-FA4D-41314736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A17552B-CD9C-B70C-FC7F-04A4721D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990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BCE96-58F9-C529-78EE-61AB1446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C25EE0-A866-34C7-2612-E19BF877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6AA758-1D87-AC7F-0BBF-92C1CD419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2DB4D-BB98-C470-033B-D231B377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DD5A33E-DB6C-8FB5-3B56-C1CAC57C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6AC453F-08DC-AD29-D24D-85028001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984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A14BA-EB64-3D73-36F3-C068A6BE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3220A3F-174E-302B-23F6-50BC575BA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2A817F4-C2E5-3812-7BEF-DCB913D19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7E1043-163B-6E10-8B50-03220A19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2C0831-8D3F-5EA6-C184-DD914F9F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667D55-0820-C781-F6E5-16B62BAB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4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3A239-0C77-D3D5-4ABB-488D45F3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F784A69-B405-971C-4961-1804926DF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2CC97B-BAB6-BE50-E28D-0CD29D03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857F51-26BB-8542-606F-FFBE5883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123B5A5-A4E8-3EED-6326-EFF76CE1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966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6714D73-9325-63D5-29A6-514AC0CD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45E9FB4-22F2-11AF-62EB-5FA8C3D66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2BEA255-CEA2-72E1-D379-61EDEA30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CFFEEE-58DF-A148-C0FF-1337A4BE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895467-14B5-B005-A3FA-66B6E512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24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3701A0C-A237-EC53-D79F-270C244D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D853D80-D7AB-C69A-6F27-7E68D07F9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850701A-B0D7-CCE4-6FAA-9A5B097DD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B39B9-E424-4E48-BEC0-AE849B67F9AC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320D5C-9564-6C0A-F470-4C45F189E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C1B226-761A-9D2D-98D1-E4B7CFA6C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B2CAD-2BB4-4D91-9592-10365A807A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900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4FEDA-08A5-44DD-321F-CE204AFD2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err="1"/>
              <a:t>Proposed</a:t>
            </a:r>
            <a:r>
              <a:rPr lang="nl-NL"/>
              <a:t> practicum projects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1D1F345-C500-36D3-6309-D0EFD50721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7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7E45A-F7E6-FBA4-878D-014FB9CA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5"/>
            <a:ext cx="10515600" cy="689318"/>
          </a:xfrm>
        </p:spPr>
        <p:txBody>
          <a:bodyPr>
            <a:normAutofit fontScale="90000"/>
          </a:bodyPr>
          <a:lstStyle/>
          <a:p>
            <a:r>
              <a:rPr lang="nl-NL"/>
              <a:t>MTI-filter </a:t>
            </a:r>
            <a:r>
              <a:rPr lang="nl-NL" err="1"/>
              <a:t>selection</a:t>
            </a:r>
            <a:r>
              <a:rPr lang="nl-NL"/>
              <a:t>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BBC22B-CF1D-E196-1E13-D03BCD6B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10515600" cy="5438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dirty="0"/>
              <a:t>In </a:t>
            </a:r>
            <a:r>
              <a:rPr lang="nl-NL" sz="2000" dirty="0" err="1"/>
              <a:t>the</a:t>
            </a:r>
            <a:r>
              <a:rPr lang="nl-NL" sz="2000" dirty="0"/>
              <a:t> script </a:t>
            </a:r>
            <a:r>
              <a:rPr lang="nl-NL" sz="2000" dirty="0" err="1"/>
              <a:t>FMCW_MTI_Filtering_Lab.mlx</a:t>
            </a:r>
            <a:r>
              <a:rPr lang="nl-NL" sz="2000" dirty="0"/>
              <a:t>, a </a:t>
            </a:r>
            <a:r>
              <a:rPr lang="nl-NL" sz="2000" dirty="0" err="1"/>
              <a:t>Moving</a:t>
            </a:r>
            <a:r>
              <a:rPr lang="nl-NL" sz="2000" dirty="0"/>
              <a:t> target indicator (MTI)-filter is </a:t>
            </a:r>
            <a:r>
              <a:rPr lang="nl-NL" sz="2000" dirty="0" err="1"/>
              <a:t>defined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2 or 3 </a:t>
            </a:r>
            <a:r>
              <a:rPr lang="nl-NL" sz="2000" dirty="0" err="1"/>
              <a:t>coefficients</a:t>
            </a:r>
            <a:r>
              <a:rPr lang="nl-NL" sz="2000" dirty="0"/>
              <a:t>. </a:t>
            </a:r>
            <a:r>
              <a:rPr lang="nl-NL" sz="2000" dirty="0" err="1"/>
              <a:t>This</a:t>
            </a:r>
            <a:r>
              <a:rPr lang="nl-NL" sz="2000" dirty="0"/>
              <a:t> is a </a:t>
            </a:r>
            <a:r>
              <a:rPr lang="nl-NL" sz="2000" dirty="0" err="1"/>
              <a:t>computationally</a:t>
            </a:r>
            <a:r>
              <a:rPr lang="nl-NL" sz="2000" dirty="0"/>
              <a:t> </a:t>
            </a:r>
            <a:r>
              <a:rPr lang="nl-NL" sz="2000" dirty="0" err="1"/>
              <a:t>inexpensive</a:t>
            </a:r>
            <a:r>
              <a:rPr lang="nl-NL" sz="2000" dirty="0"/>
              <a:t> </a:t>
            </a:r>
            <a:r>
              <a:rPr lang="nl-NL" sz="2000" dirty="0" err="1"/>
              <a:t>method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distinguish</a:t>
            </a:r>
            <a:r>
              <a:rPr lang="nl-NL" sz="2000" dirty="0"/>
              <a:t> </a:t>
            </a:r>
            <a:r>
              <a:rPr lang="nl-NL" sz="2000" dirty="0" err="1"/>
              <a:t>moving</a:t>
            </a:r>
            <a:r>
              <a:rPr lang="nl-NL" sz="2000" dirty="0"/>
              <a:t> targets </a:t>
            </a:r>
            <a:r>
              <a:rPr lang="nl-NL" sz="2000" dirty="0" err="1"/>
              <a:t>from</a:t>
            </a:r>
            <a:r>
              <a:rPr lang="nl-NL" sz="2000" dirty="0"/>
              <a:t> </a:t>
            </a:r>
            <a:r>
              <a:rPr lang="nl-NL" sz="2000" dirty="0" err="1"/>
              <a:t>clutter</a:t>
            </a:r>
            <a:r>
              <a:rPr lang="nl-NL" sz="2000" dirty="0"/>
              <a:t>. </a:t>
            </a:r>
          </a:p>
          <a:p>
            <a:r>
              <a:rPr lang="nl-NL" sz="2000" dirty="0"/>
              <a:t>Plot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theoretical</a:t>
            </a:r>
            <a:r>
              <a:rPr lang="nl-NL" sz="2000" dirty="0"/>
              <a:t> </a:t>
            </a:r>
            <a:r>
              <a:rPr lang="nl-NL" sz="2000" dirty="0" err="1"/>
              <a:t>frequency</a:t>
            </a:r>
            <a:r>
              <a:rPr lang="nl-NL" sz="2000" dirty="0"/>
              <a:t> response of these </a:t>
            </a:r>
            <a:r>
              <a:rPr lang="nl-NL" sz="2000" dirty="0" err="1"/>
              <a:t>two</a:t>
            </a:r>
            <a:r>
              <a:rPr lang="nl-NL" sz="2000" dirty="0"/>
              <a:t> MTI filters. </a:t>
            </a:r>
          </a:p>
          <a:p>
            <a:r>
              <a:rPr lang="nl-NL" sz="2000" dirty="0" err="1"/>
              <a:t>What</a:t>
            </a:r>
            <a:r>
              <a:rPr lang="nl-NL" sz="2000" dirty="0"/>
              <a:t> is </a:t>
            </a:r>
            <a:r>
              <a:rPr lang="nl-NL" sz="2000" dirty="0" err="1"/>
              <a:t>the</a:t>
            </a:r>
            <a:r>
              <a:rPr lang="nl-NL" sz="2000" dirty="0"/>
              <a:t> effect of </a:t>
            </a:r>
            <a:r>
              <a:rPr lang="nl-NL" sz="2000" dirty="0" err="1"/>
              <a:t>defining</a:t>
            </a:r>
            <a:r>
              <a:rPr lang="nl-NL" sz="2000" dirty="0"/>
              <a:t> a </a:t>
            </a:r>
            <a:r>
              <a:rPr lang="nl-NL" sz="2000" dirty="0" err="1"/>
              <a:t>longer</a:t>
            </a:r>
            <a:r>
              <a:rPr lang="nl-NL" sz="2000" dirty="0"/>
              <a:t> MTI filter? </a:t>
            </a:r>
            <a:r>
              <a:rPr lang="nl-NL" sz="2000" dirty="0" err="1"/>
              <a:t>Also</a:t>
            </a:r>
            <a:r>
              <a:rPr lang="nl-NL" sz="2000" dirty="0"/>
              <a:t> show </a:t>
            </a:r>
            <a:r>
              <a:rPr lang="nl-NL" sz="2000" dirty="0" err="1"/>
              <a:t>this</a:t>
            </a:r>
            <a:r>
              <a:rPr lang="nl-NL" sz="2000" dirty="0"/>
              <a:t> in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theoretical</a:t>
            </a:r>
            <a:r>
              <a:rPr lang="nl-NL" sz="2000" dirty="0"/>
              <a:t> </a:t>
            </a:r>
            <a:r>
              <a:rPr lang="nl-NL" sz="2000" dirty="0" err="1"/>
              <a:t>frequency</a:t>
            </a:r>
            <a:r>
              <a:rPr lang="nl-NL" sz="2000" dirty="0"/>
              <a:t> response. </a:t>
            </a:r>
          </a:p>
          <a:p>
            <a:r>
              <a:rPr lang="nl-NL" sz="2000" dirty="0"/>
              <a:t>How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MTI filter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moved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a different </a:t>
            </a:r>
            <a:r>
              <a:rPr lang="nl-NL" sz="2000" dirty="0" err="1"/>
              <a:t>frequency</a:t>
            </a:r>
            <a:r>
              <a:rPr lang="nl-NL" sz="2000" dirty="0"/>
              <a:t>? For </a:t>
            </a:r>
            <a:r>
              <a:rPr lang="nl-NL" sz="2000" dirty="0" err="1"/>
              <a:t>example</a:t>
            </a:r>
            <a:r>
              <a:rPr lang="nl-NL" sz="2000" dirty="0"/>
              <a:t> </a:t>
            </a:r>
            <a:r>
              <a:rPr lang="nl-NL" sz="2000" dirty="0" err="1"/>
              <a:t>from</a:t>
            </a:r>
            <a:r>
              <a:rPr lang="nl-NL" sz="2000" dirty="0"/>
              <a:t> high-pass </a:t>
            </a:r>
            <a:r>
              <a:rPr lang="nl-NL" sz="2000" dirty="0" err="1"/>
              <a:t>to</a:t>
            </a:r>
            <a:r>
              <a:rPr lang="nl-NL" sz="2000" dirty="0"/>
              <a:t> low-pass, </a:t>
            </a:r>
            <a:r>
              <a:rPr lang="nl-NL" sz="2000" dirty="0" err="1"/>
              <a:t>such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only</a:t>
            </a:r>
            <a:r>
              <a:rPr lang="nl-NL" sz="2000" dirty="0"/>
              <a:t> </a:t>
            </a:r>
            <a:r>
              <a:rPr lang="nl-NL" sz="2000" dirty="0" err="1"/>
              <a:t>clutter</a:t>
            </a:r>
            <a:r>
              <a:rPr lang="nl-NL" sz="2000" dirty="0"/>
              <a:t> is </a:t>
            </a:r>
            <a:r>
              <a:rPr lang="nl-NL" sz="2000" dirty="0" err="1"/>
              <a:t>passed</a:t>
            </a:r>
            <a:r>
              <a:rPr lang="nl-NL" sz="2000" dirty="0"/>
              <a:t>.  </a:t>
            </a:r>
          </a:p>
          <a:p>
            <a:r>
              <a:rPr lang="nl-NL" sz="2000" dirty="0"/>
              <a:t>Design a MTI filter </a:t>
            </a:r>
            <a:r>
              <a:rPr lang="nl-NL" sz="2000" dirty="0" err="1"/>
              <a:t>that</a:t>
            </a:r>
            <a:r>
              <a:rPr lang="nl-NL" sz="2000" dirty="0"/>
              <a:t> passes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velocity</a:t>
            </a:r>
            <a:r>
              <a:rPr lang="nl-NL" sz="2000" dirty="0"/>
              <a:t> 1 m/s, </a:t>
            </a:r>
            <a:r>
              <a:rPr lang="nl-NL" sz="2000" dirty="0" err="1"/>
              <a:t>with</a:t>
            </a:r>
            <a:r>
              <a:rPr lang="nl-NL" sz="2000" dirty="0"/>
              <a:t> 50 dB </a:t>
            </a:r>
            <a:r>
              <a:rPr lang="nl-NL" sz="2000" dirty="0" err="1"/>
              <a:t>suppression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other</a:t>
            </a:r>
            <a:r>
              <a:rPr lang="nl-NL" sz="2000" dirty="0"/>
              <a:t> </a:t>
            </a:r>
            <a:r>
              <a:rPr lang="nl-NL" sz="2000" dirty="0" err="1"/>
              <a:t>velocities</a:t>
            </a:r>
            <a:r>
              <a:rPr lang="nl-NL" sz="2000" dirty="0"/>
              <a:t>. Show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frequency</a:t>
            </a:r>
            <a:r>
              <a:rPr lang="nl-NL" sz="2000" dirty="0"/>
              <a:t> response of </a:t>
            </a:r>
            <a:r>
              <a:rPr lang="nl-NL" sz="2000" dirty="0" err="1"/>
              <a:t>this</a:t>
            </a:r>
            <a:r>
              <a:rPr lang="nl-NL" sz="2000" dirty="0"/>
              <a:t> filter,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effect on </a:t>
            </a:r>
            <a:r>
              <a:rPr lang="nl-NL" sz="2000" dirty="0" err="1"/>
              <a:t>the</a:t>
            </a:r>
            <a:r>
              <a:rPr lang="nl-NL" sz="2000" dirty="0"/>
              <a:t> FMCW script. </a:t>
            </a:r>
            <a:r>
              <a:rPr lang="nl-NL" sz="2000" dirty="0" err="1"/>
              <a:t>Also</a:t>
            </a:r>
            <a:r>
              <a:rPr lang="nl-NL" sz="2000" dirty="0"/>
              <a:t> </a:t>
            </a:r>
            <a:r>
              <a:rPr lang="nl-NL" sz="2000" dirty="0" err="1"/>
              <a:t>try</a:t>
            </a:r>
            <a:r>
              <a:rPr lang="nl-NL" sz="2000" dirty="0"/>
              <a:t> different </a:t>
            </a:r>
            <a:r>
              <a:rPr lang="nl-NL" sz="2000" dirty="0" err="1"/>
              <a:t>suppression</a:t>
            </a:r>
            <a:r>
              <a:rPr lang="nl-NL" sz="2000" dirty="0"/>
              <a:t> levels. </a:t>
            </a:r>
            <a:r>
              <a:rPr lang="nl-NL" sz="2000" dirty="0" err="1"/>
              <a:t>What</a:t>
            </a:r>
            <a:r>
              <a:rPr lang="nl-NL" sz="2000" dirty="0"/>
              <a:t> is </a:t>
            </a:r>
            <a:r>
              <a:rPr lang="nl-NL" sz="2000" dirty="0" err="1"/>
              <a:t>the</a:t>
            </a:r>
            <a:r>
              <a:rPr lang="nl-NL" sz="2000" dirty="0"/>
              <a:t> effect? </a:t>
            </a:r>
            <a:endParaRPr lang="nl-NL"/>
          </a:p>
          <a:p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you</a:t>
            </a:r>
            <a:r>
              <a:rPr lang="nl-NL" sz="2000" dirty="0"/>
              <a:t> </a:t>
            </a:r>
            <a:r>
              <a:rPr lang="nl-NL" sz="2000" dirty="0" err="1"/>
              <a:t>explain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operation</a:t>
            </a:r>
            <a:r>
              <a:rPr lang="nl-NL" sz="2000" dirty="0"/>
              <a:t> of </a:t>
            </a:r>
            <a:r>
              <a:rPr lang="nl-NL" sz="2000" dirty="0" err="1"/>
              <a:t>using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FFT </a:t>
            </a:r>
            <a:r>
              <a:rPr lang="nl-NL" sz="2000" dirty="0" err="1"/>
              <a:t>to</a:t>
            </a:r>
            <a:r>
              <a:rPr lang="nl-NL" sz="2000" dirty="0"/>
              <a:t> do Doppler filtering, in </a:t>
            </a:r>
            <a:r>
              <a:rPr lang="nl-NL" sz="2000" dirty="0" err="1"/>
              <a:t>terms</a:t>
            </a:r>
            <a:r>
              <a:rPr lang="nl-NL" sz="2000" dirty="0"/>
              <a:t> of MTI filtering? How does </a:t>
            </a:r>
            <a:r>
              <a:rPr lang="nl-NL" sz="2000" dirty="0" err="1"/>
              <a:t>the</a:t>
            </a:r>
            <a:r>
              <a:rPr lang="nl-NL" sz="2000" dirty="0"/>
              <a:t> FFT </a:t>
            </a:r>
            <a:r>
              <a:rPr lang="nl-NL" sz="2000" dirty="0" err="1"/>
              <a:t>compare</a:t>
            </a:r>
            <a:r>
              <a:rPr lang="nl-NL" sz="2000" dirty="0"/>
              <a:t> in </a:t>
            </a:r>
            <a:r>
              <a:rPr lang="nl-NL" sz="2000" dirty="0" err="1"/>
              <a:t>terms</a:t>
            </a:r>
            <a:r>
              <a:rPr lang="nl-NL" sz="2000" dirty="0"/>
              <a:t> of </a:t>
            </a:r>
            <a:r>
              <a:rPr lang="nl-NL" sz="2000" dirty="0" err="1"/>
              <a:t>computational</a:t>
            </a:r>
            <a:r>
              <a:rPr lang="nl-NL" sz="2000" dirty="0"/>
              <a:t> </a:t>
            </a:r>
            <a:r>
              <a:rPr lang="nl-NL" sz="2000" dirty="0" err="1"/>
              <a:t>complexity</a:t>
            </a:r>
            <a:r>
              <a:rPr lang="nl-NL" sz="2000" dirty="0"/>
              <a:t>? </a:t>
            </a:r>
            <a:endParaRPr lang="nl-NL"/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37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239F9-7B73-9A2A-9D32-8F9FE791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MTI filter </a:t>
            </a:r>
            <a:r>
              <a:rPr lang="nl-NL" err="1"/>
              <a:t>selection</a:t>
            </a:r>
            <a:r>
              <a:rPr lang="nl-NL"/>
              <a:t> 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F6536DEE-D08F-2EAC-48B1-50FE09822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572" y="2197553"/>
            <a:ext cx="3740574" cy="3807053"/>
          </a:xfrm>
          <a:prstGeom prst="rect">
            <a:avLst/>
          </a:prstGeom>
        </p:spPr>
      </p:pic>
      <p:pic>
        <p:nvPicPr>
          <p:cNvPr id="10" name="Afbeelding 9" descr="Afbeelding met tekst, scherm, schermopname, Kleurrijkheid&#10;&#10;Door AI gegenereerde inhoud is mogelijk onjuist.">
            <a:extLst>
              <a:ext uri="{FF2B5EF4-FFF2-40B4-BE49-F238E27FC236}">
                <a16:creationId xmlns:a16="http://schemas.microsoft.com/office/drawing/2014/main" id="{39435127-990C-31B3-6E84-F30FF1B6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973" y="1870155"/>
            <a:ext cx="3468788" cy="1902348"/>
          </a:xfrm>
          <a:prstGeom prst="rect">
            <a:avLst/>
          </a:prstGeom>
        </p:spPr>
      </p:pic>
      <p:pic>
        <p:nvPicPr>
          <p:cNvPr id="11" name="Afbeelding 10" descr="Afbeelding met tekst, scherm, schermopname, Multimediasoftware&#10;&#10;Door AI gegenereerde inhoud is mogelijk onjuist.">
            <a:extLst>
              <a:ext uri="{FF2B5EF4-FFF2-40B4-BE49-F238E27FC236}">
                <a16:creationId xmlns:a16="http://schemas.microsoft.com/office/drawing/2014/main" id="{FD93A55F-08BC-91E6-325D-22598D29E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560" y="4327364"/>
            <a:ext cx="3476508" cy="1901144"/>
          </a:xfrm>
          <a:prstGeom prst="rect">
            <a:avLst/>
          </a:prstGeom>
        </p:spPr>
      </p:pic>
      <p:pic>
        <p:nvPicPr>
          <p:cNvPr id="12" name="Afbeelding 11" descr="Afbeelding met tekst, schermopname, scherm, Kleurrijkheid&#10;&#10;Door AI gegenereerde inhoud is mogelijk onjuist.">
            <a:extLst>
              <a:ext uri="{FF2B5EF4-FFF2-40B4-BE49-F238E27FC236}">
                <a16:creationId xmlns:a16="http://schemas.microsoft.com/office/drawing/2014/main" id="{14220C3C-36B4-58EF-9C08-1F83D79EA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797" y="2636977"/>
            <a:ext cx="4287819" cy="2460225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9BBBAB3C-BA61-D351-D051-416655E51D19}"/>
              </a:ext>
            </a:extLst>
          </p:cNvPr>
          <p:cNvSpPr txBox="1"/>
          <p:nvPr/>
        </p:nvSpPr>
        <p:spPr>
          <a:xfrm>
            <a:off x="4012556" y="1369670"/>
            <a:ext cx="3424177" cy="366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Order 1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F607FD88-76D8-3FBA-BE03-BA853F4624D1}"/>
              </a:ext>
            </a:extLst>
          </p:cNvPr>
          <p:cNvSpPr txBox="1"/>
          <p:nvPr/>
        </p:nvSpPr>
        <p:spPr>
          <a:xfrm>
            <a:off x="4012096" y="3918282"/>
            <a:ext cx="3424177" cy="366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Order 2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49EBE7A9-7553-38C6-8B37-654500AB143E}"/>
              </a:ext>
            </a:extLst>
          </p:cNvPr>
          <p:cNvSpPr txBox="1"/>
          <p:nvPr/>
        </p:nvSpPr>
        <p:spPr>
          <a:xfrm>
            <a:off x="8130524" y="2194710"/>
            <a:ext cx="3424177" cy="366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Order 39, Taylor </a:t>
            </a:r>
            <a:r>
              <a:rPr lang="nl-NL" err="1"/>
              <a:t>window</a:t>
            </a:r>
          </a:p>
        </p:txBody>
      </p:sp>
    </p:spTree>
    <p:extLst>
      <p:ext uri="{BB962C8B-B14F-4D97-AF65-F5344CB8AC3E}">
        <p14:creationId xmlns:p14="http://schemas.microsoft.com/office/powerpoint/2010/main" val="241171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C55C8-4EDF-BA47-2C92-8DF4A9FD9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543"/>
            <a:ext cx="10515600" cy="848267"/>
          </a:xfrm>
        </p:spPr>
        <p:txBody>
          <a:bodyPr/>
          <a:lstStyle/>
          <a:p>
            <a:r>
              <a:rPr lang="nl-NL" dirty="0" err="1"/>
              <a:t>Hybrid</a:t>
            </a:r>
            <a:r>
              <a:rPr lang="nl-NL" dirty="0"/>
              <a:t> </a:t>
            </a:r>
            <a:r>
              <a:rPr lang="nl-NL" dirty="0" err="1"/>
              <a:t>Beamforming</a:t>
            </a:r>
            <a:r>
              <a:rPr lang="nl-NL" dirty="0"/>
              <a:t> (</a:t>
            </a:r>
            <a:r>
              <a:rPr lang="nl-NL" dirty="0" err="1"/>
              <a:t>fixed</a:t>
            </a:r>
            <a:r>
              <a:rPr lang="nl-NL" dirty="0"/>
              <a:t> </a:t>
            </a:r>
            <a:r>
              <a:rPr lang="nl-NL" dirty="0" err="1"/>
              <a:t>subarrays</a:t>
            </a:r>
            <a:r>
              <a:rPr lang="nl-NL" dirty="0"/>
              <a:t>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94F1A4-DD52-E941-39C4-652B71FB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351"/>
            <a:ext cx="10515600" cy="52054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 sz="2400" err="1"/>
              <a:t>One</a:t>
            </a:r>
            <a:r>
              <a:rPr lang="nl-NL" sz="2400" dirty="0"/>
              <a:t> </a:t>
            </a:r>
            <a:r>
              <a:rPr lang="nl-NL" sz="2400" err="1"/>
              <a:t>method</a:t>
            </a:r>
            <a:r>
              <a:rPr lang="nl-NL" sz="2400" dirty="0"/>
              <a:t> of HBF is </a:t>
            </a:r>
            <a:r>
              <a:rPr lang="nl-NL" sz="2400" err="1"/>
              <a:t>to</a:t>
            </a:r>
            <a:r>
              <a:rPr lang="nl-NL" sz="2400" dirty="0"/>
              <a:t> </a:t>
            </a:r>
            <a:r>
              <a:rPr lang="nl-NL" sz="2400" err="1"/>
              <a:t>use</a:t>
            </a:r>
            <a:r>
              <a:rPr lang="nl-NL" sz="2400" dirty="0"/>
              <a:t> </a:t>
            </a:r>
            <a:r>
              <a:rPr lang="nl-NL" sz="2400" err="1"/>
              <a:t>fixed</a:t>
            </a:r>
            <a:r>
              <a:rPr lang="nl-NL" sz="2400" dirty="0"/>
              <a:t> </a:t>
            </a:r>
            <a:r>
              <a:rPr lang="nl-NL" sz="2400" err="1"/>
              <a:t>subarrays</a:t>
            </a:r>
            <a:r>
              <a:rPr lang="nl-NL" sz="2400" dirty="0"/>
              <a:t>, </a:t>
            </a:r>
            <a:r>
              <a:rPr lang="nl-NL" sz="2400" err="1"/>
              <a:t>where</a:t>
            </a:r>
            <a:r>
              <a:rPr lang="nl-NL" sz="2400" dirty="0"/>
              <a:t> </a:t>
            </a:r>
            <a:r>
              <a:rPr lang="nl-NL" sz="2400" err="1"/>
              <a:t>only</a:t>
            </a:r>
            <a:r>
              <a:rPr lang="nl-NL" sz="2400" dirty="0"/>
              <a:t> </a:t>
            </a:r>
            <a:r>
              <a:rPr lang="nl-NL" sz="2400" err="1"/>
              <a:t>the</a:t>
            </a:r>
            <a:r>
              <a:rPr lang="nl-NL" sz="2400" dirty="0"/>
              <a:t> digital </a:t>
            </a:r>
            <a:r>
              <a:rPr lang="nl-NL" sz="2400" err="1"/>
              <a:t>weights</a:t>
            </a:r>
            <a:r>
              <a:rPr lang="nl-NL" sz="2400" dirty="0"/>
              <a:t> are </a:t>
            </a:r>
            <a:r>
              <a:rPr lang="nl-NL" sz="2400" err="1"/>
              <a:t>used</a:t>
            </a:r>
            <a:r>
              <a:rPr lang="nl-NL" sz="2400" dirty="0"/>
              <a:t> </a:t>
            </a:r>
            <a:r>
              <a:rPr lang="nl-NL" sz="2400" err="1"/>
              <a:t>to</a:t>
            </a:r>
            <a:r>
              <a:rPr lang="nl-NL" sz="2400" dirty="0"/>
              <a:t> </a:t>
            </a:r>
            <a:r>
              <a:rPr lang="nl-NL" sz="2400" err="1"/>
              <a:t>steer</a:t>
            </a:r>
            <a:r>
              <a:rPr lang="nl-NL" sz="2400" dirty="0"/>
              <a:t> </a:t>
            </a:r>
            <a:r>
              <a:rPr lang="nl-NL" sz="2400" err="1"/>
              <a:t>the</a:t>
            </a:r>
            <a:r>
              <a:rPr lang="nl-NL" sz="2400" dirty="0"/>
              <a:t> </a:t>
            </a:r>
            <a:r>
              <a:rPr lang="nl-NL" sz="2400" err="1"/>
              <a:t>beam</a:t>
            </a:r>
            <a:r>
              <a:rPr lang="nl-NL" sz="2400" dirty="0"/>
              <a:t>. </a:t>
            </a:r>
          </a:p>
          <a:p>
            <a:r>
              <a:rPr lang="nl-NL" sz="2400" dirty="0"/>
              <a:t>First </a:t>
            </a:r>
            <a:r>
              <a:rPr lang="nl-NL" sz="2400" dirty="0" err="1"/>
              <a:t>assume</a:t>
            </a:r>
            <a:r>
              <a:rPr lang="nl-NL" sz="2400" dirty="0"/>
              <a:t> a </a:t>
            </a:r>
            <a:r>
              <a:rPr lang="nl-NL" sz="2400" dirty="0" err="1"/>
              <a:t>fully</a:t>
            </a:r>
            <a:r>
              <a:rPr lang="nl-NL" sz="2400" dirty="0"/>
              <a:t> uniform taper, </a:t>
            </a:r>
            <a:r>
              <a:rPr lang="nl-NL" sz="2400" dirty="0" err="1"/>
              <a:t>both</a:t>
            </a:r>
            <a:r>
              <a:rPr lang="nl-NL" sz="2400" dirty="0"/>
              <a:t>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analog</a:t>
            </a:r>
            <a:r>
              <a:rPr lang="nl-NL" sz="2400" dirty="0"/>
              <a:t> </a:t>
            </a:r>
            <a:r>
              <a:rPr lang="nl-NL" sz="2400" dirty="0" err="1"/>
              <a:t>weights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digital </a:t>
            </a:r>
            <a:r>
              <a:rPr lang="nl-NL" sz="2400" dirty="0" err="1"/>
              <a:t>weights</a:t>
            </a:r>
            <a:r>
              <a:rPr lang="nl-NL" sz="2400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2200" dirty="0"/>
              <a:t>Make a </a:t>
            </a:r>
            <a:r>
              <a:rPr lang="nl-NL" sz="2200" err="1"/>
              <a:t>Matlab</a:t>
            </a:r>
            <a:r>
              <a:rPr lang="nl-NL" sz="2200" dirty="0"/>
              <a:t> script </a:t>
            </a:r>
            <a:r>
              <a:rPr lang="nl-NL" sz="2200" err="1"/>
              <a:t>and</a:t>
            </a:r>
            <a:r>
              <a:rPr lang="nl-NL" sz="2200" dirty="0"/>
              <a:t> plot </a:t>
            </a:r>
            <a:r>
              <a:rPr lang="nl-NL" sz="2200" err="1"/>
              <a:t>the</a:t>
            </a:r>
            <a:r>
              <a:rPr lang="nl-NL" sz="2200" dirty="0"/>
              <a:t> array factor </a:t>
            </a:r>
            <a:r>
              <a:rPr lang="nl-NL" sz="2200" err="1"/>
              <a:t>for</a:t>
            </a:r>
            <a:r>
              <a:rPr lang="nl-NL" sz="2200" dirty="0"/>
              <a:t> </a:t>
            </a:r>
            <a:r>
              <a:rPr lang="nl-NL" sz="2200" err="1"/>
              <a:t>the</a:t>
            </a:r>
            <a:r>
              <a:rPr lang="nl-NL" sz="2200" dirty="0"/>
              <a:t> </a:t>
            </a:r>
            <a:r>
              <a:rPr lang="nl-NL" sz="2200" err="1"/>
              <a:t>subarray</a:t>
            </a:r>
            <a:r>
              <a:rPr lang="nl-NL" sz="2200" dirty="0"/>
              <a:t>, </a:t>
            </a:r>
            <a:r>
              <a:rPr lang="nl-NL" sz="2200" err="1"/>
              <a:t>the</a:t>
            </a:r>
            <a:r>
              <a:rPr lang="nl-NL" sz="2200" dirty="0"/>
              <a:t> digital part, </a:t>
            </a:r>
            <a:r>
              <a:rPr lang="nl-NL" sz="2200" err="1"/>
              <a:t>and</a:t>
            </a:r>
            <a:r>
              <a:rPr lang="nl-NL" sz="2200" dirty="0"/>
              <a:t> </a:t>
            </a:r>
            <a:r>
              <a:rPr lang="nl-NL" sz="2200" err="1"/>
              <a:t>the</a:t>
            </a:r>
            <a:r>
              <a:rPr lang="nl-NL" sz="2200" dirty="0"/>
              <a:t> </a:t>
            </a:r>
            <a:r>
              <a:rPr lang="nl-NL" sz="2200" err="1"/>
              <a:t>combination</a:t>
            </a:r>
            <a:r>
              <a:rPr lang="nl-NL" sz="2200" dirty="0"/>
              <a:t> of </a:t>
            </a:r>
            <a:r>
              <a:rPr lang="nl-NL" sz="2200" err="1"/>
              <a:t>the</a:t>
            </a:r>
            <a:r>
              <a:rPr lang="nl-NL" sz="2200" dirty="0"/>
              <a:t> </a:t>
            </a:r>
            <a:r>
              <a:rPr lang="nl-NL" sz="2200" err="1"/>
              <a:t>two</a:t>
            </a:r>
            <a:r>
              <a:rPr lang="nl-NL" sz="2200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2200" dirty="0" err="1"/>
              <a:t>Measure</a:t>
            </a:r>
            <a:r>
              <a:rPr lang="nl-NL" sz="2200" dirty="0"/>
              <a:t> </a:t>
            </a:r>
            <a:r>
              <a:rPr lang="nl-NL" sz="2200" dirty="0" err="1"/>
              <a:t>the</a:t>
            </a:r>
            <a:r>
              <a:rPr lang="nl-NL" sz="2200" dirty="0"/>
              <a:t> </a:t>
            </a:r>
            <a:r>
              <a:rPr lang="nl-NL" sz="2200" dirty="0" err="1"/>
              <a:t>corresponding</a:t>
            </a:r>
            <a:r>
              <a:rPr lang="nl-NL" sz="2200" dirty="0"/>
              <a:t> </a:t>
            </a:r>
            <a:r>
              <a:rPr lang="nl-NL" sz="2200" dirty="0" err="1"/>
              <a:t>beam</a:t>
            </a:r>
            <a:r>
              <a:rPr lang="nl-NL" sz="2200" dirty="0"/>
              <a:t> </a:t>
            </a:r>
            <a:r>
              <a:rPr lang="nl-NL" sz="2200" dirty="0" err="1"/>
              <a:t>pattern</a:t>
            </a:r>
            <a:r>
              <a:rPr lang="nl-NL" sz="2200" dirty="0"/>
              <a:t> (</a:t>
            </a:r>
            <a:r>
              <a:rPr lang="nl-NL" sz="2200" dirty="0" err="1"/>
              <a:t>Pattern_Tapering_Lab.mlx</a:t>
            </a:r>
            <a:r>
              <a:rPr lang="nl-NL" sz="2200" dirty="0"/>
              <a:t>). </a:t>
            </a:r>
            <a:r>
              <a:rPr lang="nl-NL" sz="2200" dirty="0" err="1"/>
              <a:t>Adjust</a:t>
            </a:r>
            <a:r>
              <a:rPr lang="nl-NL" sz="2200" dirty="0"/>
              <a:t> </a:t>
            </a:r>
            <a:r>
              <a:rPr lang="nl-NL" sz="2200" dirty="0" err="1"/>
              <a:t>the</a:t>
            </a:r>
            <a:r>
              <a:rPr lang="nl-NL" sz="2200" dirty="0"/>
              <a:t> script </a:t>
            </a:r>
            <a:r>
              <a:rPr lang="nl-NL" sz="2200" dirty="0" err="1"/>
              <a:t>to</a:t>
            </a:r>
            <a:r>
              <a:rPr lang="nl-NL" sz="2200" dirty="0"/>
              <a:t> </a:t>
            </a:r>
            <a:r>
              <a:rPr lang="nl-NL" sz="2200" dirty="0" err="1"/>
              <a:t>be</a:t>
            </a:r>
            <a:r>
              <a:rPr lang="nl-NL" sz="2200" dirty="0"/>
              <a:t> </a:t>
            </a:r>
            <a:r>
              <a:rPr lang="nl-NL" sz="2200" dirty="0" err="1"/>
              <a:t>able</a:t>
            </a:r>
            <a:r>
              <a:rPr lang="nl-NL" sz="2200" dirty="0"/>
              <a:t> </a:t>
            </a:r>
            <a:r>
              <a:rPr lang="nl-NL" sz="2200" dirty="0" err="1"/>
              <a:t>to</a:t>
            </a:r>
            <a:r>
              <a:rPr lang="nl-NL" sz="2200" dirty="0"/>
              <a:t> control </a:t>
            </a:r>
            <a:r>
              <a:rPr lang="nl-NL" sz="2200" dirty="0" err="1"/>
              <a:t>the</a:t>
            </a:r>
            <a:r>
              <a:rPr lang="nl-NL" sz="2200" dirty="0"/>
              <a:t> digital </a:t>
            </a:r>
            <a:r>
              <a:rPr lang="nl-NL" sz="2200" dirty="0" err="1"/>
              <a:t>weights</a:t>
            </a:r>
            <a:r>
              <a:rPr lang="nl-NL" sz="2200" dirty="0"/>
              <a:t>.</a:t>
            </a:r>
          </a:p>
          <a:p>
            <a:r>
              <a:rPr lang="nl-NL" sz="2400" dirty="0" err="1"/>
              <a:t>Use</a:t>
            </a:r>
            <a:r>
              <a:rPr lang="nl-NL" sz="2400" dirty="0"/>
              <a:t> </a:t>
            </a:r>
            <a:r>
              <a:rPr lang="nl-NL" sz="2400" dirty="0" err="1"/>
              <a:t>this</a:t>
            </a:r>
            <a:r>
              <a:rPr lang="nl-NL" sz="2400" dirty="0"/>
              <a:t> </a:t>
            </a:r>
            <a:r>
              <a:rPr lang="nl-NL" sz="2400" dirty="0" err="1"/>
              <a:t>method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scan </a:t>
            </a:r>
            <a:r>
              <a:rPr lang="nl-NL" sz="2400" dirty="0" err="1"/>
              <a:t>the</a:t>
            </a:r>
            <a:r>
              <a:rPr lang="nl-NL" sz="2400" dirty="0"/>
              <a:t> digital </a:t>
            </a:r>
            <a:r>
              <a:rPr lang="nl-NL" sz="2400" dirty="0" err="1"/>
              <a:t>beam</a:t>
            </a:r>
            <a:r>
              <a:rPr lang="nl-NL" sz="2400" dirty="0"/>
              <a:t> 10 </a:t>
            </a:r>
            <a:r>
              <a:rPr lang="nl-NL" sz="2400" dirty="0" err="1"/>
              <a:t>degrees</a:t>
            </a:r>
            <a:r>
              <a:rPr lang="nl-NL" sz="2400" dirty="0"/>
              <a:t>, </a:t>
            </a:r>
            <a:r>
              <a:rPr lang="nl-NL" sz="2400" dirty="0" err="1"/>
              <a:t>while</a:t>
            </a:r>
            <a:r>
              <a:rPr lang="nl-NL" sz="2400" dirty="0"/>
              <a:t> </a:t>
            </a:r>
            <a:r>
              <a:rPr lang="nl-NL" sz="2400" dirty="0" err="1"/>
              <a:t>keeping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subarray</a:t>
            </a:r>
            <a:r>
              <a:rPr lang="nl-NL" sz="2400" dirty="0"/>
              <a:t> </a:t>
            </a:r>
            <a:r>
              <a:rPr lang="nl-NL" sz="2400" dirty="0" err="1"/>
              <a:t>pattern</a:t>
            </a:r>
            <a:r>
              <a:rPr lang="nl-NL" sz="2400" dirty="0"/>
              <a:t> </a:t>
            </a:r>
            <a:r>
              <a:rPr lang="nl-NL" sz="2400" dirty="0" err="1"/>
              <a:t>fixed</a:t>
            </a:r>
            <a:r>
              <a:rPr lang="nl-NL" sz="2400" dirty="0"/>
              <a:t>. </a:t>
            </a:r>
            <a:r>
              <a:rPr lang="nl-NL" sz="2400" dirty="0" err="1"/>
              <a:t>Perform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measurement</a:t>
            </a:r>
            <a:r>
              <a:rPr lang="nl-NL" sz="2400" dirty="0"/>
              <a:t>, </a:t>
            </a:r>
            <a:r>
              <a:rPr lang="nl-NL" sz="2400" dirty="0" err="1"/>
              <a:t>and</a:t>
            </a:r>
            <a:r>
              <a:rPr lang="nl-NL" sz="2400" dirty="0"/>
              <a:t> plot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theoretical</a:t>
            </a:r>
            <a:r>
              <a:rPr lang="nl-NL" sz="2400" dirty="0"/>
              <a:t> array factors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analog</a:t>
            </a:r>
            <a:r>
              <a:rPr lang="nl-NL" sz="2400" dirty="0"/>
              <a:t>, digital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combined</a:t>
            </a:r>
            <a:r>
              <a:rPr lang="nl-NL" sz="2400" dirty="0"/>
              <a:t>. </a:t>
            </a:r>
            <a:r>
              <a:rPr lang="nl-NL" sz="2400" dirty="0" err="1"/>
              <a:t>What</a:t>
            </a:r>
            <a:r>
              <a:rPr lang="nl-NL" sz="2400" dirty="0"/>
              <a:t> do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see</a:t>
            </a:r>
            <a:r>
              <a:rPr lang="nl-NL" sz="2400" dirty="0"/>
              <a:t>? </a:t>
            </a:r>
            <a:r>
              <a:rPr lang="nl-NL" sz="2400" dirty="0" err="1"/>
              <a:t>What</a:t>
            </a:r>
            <a:r>
              <a:rPr lang="nl-NL" sz="2400" dirty="0"/>
              <a:t> are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advantages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disadvantages</a:t>
            </a:r>
            <a:r>
              <a:rPr lang="nl-NL" sz="2400" dirty="0"/>
              <a:t> of </a:t>
            </a:r>
            <a:r>
              <a:rPr lang="nl-NL" sz="2400" dirty="0" err="1"/>
              <a:t>this</a:t>
            </a:r>
            <a:r>
              <a:rPr lang="nl-NL" sz="2400" dirty="0"/>
              <a:t> </a:t>
            </a:r>
            <a:r>
              <a:rPr lang="nl-NL" sz="2400" dirty="0" err="1"/>
              <a:t>method</a:t>
            </a:r>
            <a:r>
              <a:rPr lang="nl-NL" sz="2400" dirty="0"/>
              <a:t> of </a:t>
            </a:r>
            <a:r>
              <a:rPr lang="nl-NL" sz="2400" dirty="0" err="1"/>
              <a:t>hybrid</a:t>
            </a:r>
            <a:r>
              <a:rPr lang="nl-NL" sz="2400" dirty="0"/>
              <a:t> </a:t>
            </a:r>
            <a:r>
              <a:rPr lang="nl-NL" sz="2400" dirty="0" err="1"/>
              <a:t>beamforming</a:t>
            </a:r>
            <a:r>
              <a:rPr lang="nl-NL" sz="2400" dirty="0"/>
              <a:t>? </a:t>
            </a:r>
            <a:r>
              <a:rPr lang="nl-NL" sz="2400" dirty="0" err="1"/>
              <a:t>Try</a:t>
            </a:r>
            <a:r>
              <a:rPr lang="nl-NL" sz="2400" dirty="0"/>
              <a:t> different digital scan </a:t>
            </a:r>
            <a:r>
              <a:rPr lang="nl-NL" sz="2400" dirty="0" err="1"/>
              <a:t>angles</a:t>
            </a:r>
            <a:r>
              <a:rPr lang="nl-NL" sz="2400" dirty="0"/>
              <a:t>.</a:t>
            </a:r>
          </a:p>
          <a:p>
            <a:r>
              <a:rPr lang="nl-NL" sz="2400" dirty="0" err="1"/>
              <a:t>Note</a:t>
            </a:r>
            <a:r>
              <a:rPr lang="nl-NL" sz="2400" dirty="0"/>
              <a:t>: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measure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beam</a:t>
            </a:r>
            <a:r>
              <a:rPr lang="nl-NL" sz="2400" dirty="0"/>
              <a:t> </a:t>
            </a:r>
            <a:r>
              <a:rPr lang="nl-NL" sz="2400" dirty="0" err="1"/>
              <a:t>pattern</a:t>
            </a:r>
            <a:r>
              <a:rPr lang="nl-NL" sz="2400" dirty="0"/>
              <a:t> </a:t>
            </a:r>
            <a:r>
              <a:rPr lang="nl-NL" sz="2400" dirty="0" err="1"/>
              <a:t>by</a:t>
            </a:r>
            <a:r>
              <a:rPr lang="nl-NL" sz="2400" dirty="0"/>
              <a:t> </a:t>
            </a:r>
            <a:r>
              <a:rPr lang="nl-NL" sz="2400" dirty="0" err="1"/>
              <a:t>either</a:t>
            </a:r>
            <a:r>
              <a:rPr lang="nl-NL" sz="2400" dirty="0"/>
              <a:t> scanning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Rx</a:t>
            </a:r>
            <a:r>
              <a:rPr lang="nl-NL" sz="2400" dirty="0"/>
              <a:t> </a:t>
            </a:r>
            <a:r>
              <a:rPr lang="nl-NL" sz="2400" dirty="0" err="1"/>
              <a:t>beam</a:t>
            </a:r>
            <a:r>
              <a:rPr lang="nl-NL" sz="2400" dirty="0"/>
              <a:t> or </a:t>
            </a:r>
            <a:r>
              <a:rPr lang="nl-NL" sz="2400" dirty="0" err="1"/>
              <a:t>by</a:t>
            </a:r>
            <a:r>
              <a:rPr lang="nl-NL" sz="2400" dirty="0"/>
              <a:t> </a:t>
            </a:r>
            <a:r>
              <a:rPr lang="nl-NL" sz="2400" dirty="0" err="1"/>
              <a:t>moving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transmitter. </a:t>
            </a:r>
            <a:r>
              <a:rPr lang="nl-NL" sz="2400" dirty="0" err="1"/>
              <a:t>What</a:t>
            </a:r>
            <a:r>
              <a:rPr lang="nl-NL" sz="2400" dirty="0"/>
              <a:t> is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difference</a:t>
            </a:r>
            <a:r>
              <a:rPr lang="nl-NL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797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0F922-3534-408E-5682-25EEF15C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5" y="-1407"/>
            <a:ext cx="10515600" cy="1325563"/>
          </a:xfrm>
        </p:spPr>
        <p:txBody>
          <a:bodyPr/>
          <a:lstStyle/>
          <a:p>
            <a:r>
              <a:rPr lang="nl-NL" err="1"/>
              <a:t>Hybrid</a:t>
            </a:r>
            <a:r>
              <a:rPr lang="nl-NL"/>
              <a:t> </a:t>
            </a:r>
            <a:r>
              <a:rPr lang="nl-NL" err="1"/>
              <a:t>beamforming</a:t>
            </a:r>
            <a:r>
              <a:rPr lang="nl-NL"/>
              <a:t> (</a:t>
            </a:r>
            <a:r>
              <a:rPr lang="nl-NL" err="1"/>
              <a:t>fixed</a:t>
            </a:r>
            <a:r>
              <a:rPr lang="nl-NL"/>
              <a:t> </a:t>
            </a:r>
            <a:r>
              <a:rPr lang="nl-NL" err="1"/>
              <a:t>subarrays</a:t>
            </a:r>
            <a:r>
              <a:rPr lang="nl-NL"/>
              <a:t>) 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CB7BF6D3-65D0-7908-AA9D-8C3333281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856" y="3426788"/>
            <a:ext cx="3292514" cy="331926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7DEA34DA-BD28-D06E-6C64-59BF3F69B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48" y="3539213"/>
            <a:ext cx="3292070" cy="3314217"/>
          </a:xfrm>
          <a:prstGeom prst="rect">
            <a:avLst/>
          </a:prstGeom>
        </p:spPr>
      </p:pic>
      <p:pic>
        <p:nvPicPr>
          <p:cNvPr id="6" name="Afbeelding 5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C9B6D93C-79D3-44C2-D724-7B911069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135" y="681640"/>
            <a:ext cx="4099729" cy="2755378"/>
          </a:xfrm>
          <a:prstGeom prst="rect">
            <a:avLst/>
          </a:prstGeom>
        </p:spPr>
      </p:pic>
      <p:pic>
        <p:nvPicPr>
          <p:cNvPr id="7" name="Afbeelding 6" descr="Afbeelding met tekst, lijn, diagram, Perceel&#10;&#10;Door AI gegenereerde inhoud is mogelijk onjuist.">
            <a:extLst>
              <a:ext uri="{FF2B5EF4-FFF2-40B4-BE49-F238E27FC236}">
                <a16:creationId xmlns:a16="http://schemas.microsoft.com/office/drawing/2014/main" id="{8478B581-CE2A-A298-2124-198A5DDEA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015" y="794975"/>
            <a:ext cx="4108893" cy="27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FEDE-D7F2-9A13-7B9E-933F4ADA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FA6A8-FA9D-3D1A-6EEE-6B693F23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543"/>
            <a:ext cx="10515600" cy="848267"/>
          </a:xfrm>
        </p:spPr>
        <p:txBody>
          <a:bodyPr/>
          <a:lstStyle/>
          <a:p>
            <a:r>
              <a:rPr lang="nl-NL" err="1"/>
              <a:t>Quantization</a:t>
            </a:r>
            <a:r>
              <a:rPr lang="nl-NL"/>
              <a:t> in </a:t>
            </a:r>
            <a:r>
              <a:rPr lang="nl-NL" err="1"/>
              <a:t>phased</a:t>
            </a:r>
            <a:r>
              <a:rPr lang="nl-NL"/>
              <a:t>-array </a:t>
            </a:r>
            <a:r>
              <a:rPr lang="nl-NL" err="1"/>
              <a:t>beamforming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EFCB08A-ABFF-EAB6-7E31-845B082E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137"/>
            <a:ext cx="10515600" cy="52054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 sz="2000" dirty="0">
                <a:ea typeface="+mn-lt"/>
                <a:cs typeface="+mn-lt"/>
              </a:rPr>
              <a:t>In practical </a:t>
            </a:r>
            <a:r>
              <a:rPr lang="nl-NL" sz="2000" dirty="0" err="1">
                <a:ea typeface="+mn-lt"/>
                <a:cs typeface="+mn-lt"/>
              </a:rPr>
              <a:t>phased</a:t>
            </a:r>
            <a:r>
              <a:rPr lang="nl-NL" sz="2000" dirty="0">
                <a:ea typeface="+mn-lt"/>
                <a:cs typeface="+mn-lt"/>
              </a:rPr>
              <a:t>-array </a:t>
            </a:r>
            <a:r>
              <a:rPr lang="nl-NL" sz="2000" dirty="0" err="1">
                <a:ea typeface="+mn-lt"/>
                <a:cs typeface="+mn-lt"/>
              </a:rPr>
              <a:t>beamforming</a:t>
            </a:r>
            <a:r>
              <a:rPr lang="nl-NL" sz="2000" dirty="0">
                <a:ea typeface="+mn-lt"/>
                <a:cs typeface="+mn-lt"/>
              </a:rPr>
              <a:t> systems, </a:t>
            </a:r>
            <a:r>
              <a:rPr lang="nl-NL" sz="2000" dirty="0" err="1">
                <a:ea typeface="+mn-lt"/>
                <a:cs typeface="+mn-lt"/>
              </a:rPr>
              <a:t>the</a:t>
            </a:r>
            <a:r>
              <a:rPr lang="nl-NL" sz="2000" dirty="0">
                <a:ea typeface="+mn-lt"/>
                <a:cs typeface="+mn-lt"/>
              </a:rPr>
              <a:t> amplitude </a:t>
            </a:r>
            <a:r>
              <a:rPr lang="nl-NL" sz="2000" dirty="0" err="1">
                <a:ea typeface="+mn-lt"/>
                <a:cs typeface="+mn-lt"/>
              </a:rPr>
              <a:t>and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phase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weights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applied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to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each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antenna</a:t>
            </a:r>
            <a:r>
              <a:rPr lang="nl-NL" sz="2000" dirty="0">
                <a:ea typeface="+mn-lt"/>
                <a:cs typeface="+mn-lt"/>
              </a:rPr>
              <a:t> element </a:t>
            </a:r>
            <a:r>
              <a:rPr lang="nl-NL" sz="2000" dirty="0" err="1">
                <a:ea typeface="+mn-lt"/>
                <a:cs typeface="+mn-lt"/>
              </a:rPr>
              <a:t>cannot</a:t>
            </a:r>
            <a:r>
              <a:rPr lang="nl-NL" sz="2000" dirty="0">
                <a:ea typeface="+mn-lt"/>
                <a:cs typeface="+mn-lt"/>
              </a:rPr>
              <a:t> take </a:t>
            </a:r>
            <a:r>
              <a:rPr lang="nl-NL" sz="2000" dirty="0" err="1">
                <a:ea typeface="+mn-lt"/>
                <a:cs typeface="+mn-lt"/>
              </a:rPr>
              <a:t>continuous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values</a:t>
            </a:r>
            <a:r>
              <a:rPr lang="nl-NL" sz="2000" dirty="0">
                <a:ea typeface="+mn-lt"/>
                <a:cs typeface="+mn-lt"/>
              </a:rPr>
              <a:t>. </a:t>
            </a:r>
            <a:r>
              <a:rPr lang="nl-NL" sz="2000" dirty="0" err="1">
                <a:ea typeface="+mn-lt"/>
                <a:cs typeface="+mn-lt"/>
              </a:rPr>
              <a:t>Instead</a:t>
            </a:r>
            <a:r>
              <a:rPr lang="nl-NL" sz="2000" dirty="0">
                <a:ea typeface="+mn-lt"/>
                <a:cs typeface="+mn-lt"/>
              </a:rPr>
              <a:t>, </a:t>
            </a:r>
            <a:r>
              <a:rPr lang="nl-NL" sz="2000" dirty="0" err="1">
                <a:ea typeface="+mn-lt"/>
                <a:cs typeface="+mn-lt"/>
              </a:rPr>
              <a:t>they</a:t>
            </a:r>
            <a:r>
              <a:rPr lang="nl-NL" sz="2000" dirty="0">
                <a:ea typeface="+mn-lt"/>
                <a:cs typeface="+mn-lt"/>
              </a:rPr>
              <a:t> are </a:t>
            </a:r>
            <a:r>
              <a:rPr lang="nl-NL" sz="2000" dirty="0" err="1">
                <a:ea typeface="+mn-lt"/>
                <a:cs typeface="+mn-lt"/>
              </a:rPr>
              <a:t>quantized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into</a:t>
            </a:r>
            <a:r>
              <a:rPr lang="nl-NL" sz="2000" dirty="0">
                <a:ea typeface="+mn-lt"/>
                <a:cs typeface="+mn-lt"/>
              </a:rPr>
              <a:t> discrete steps </a:t>
            </a:r>
            <a:r>
              <a:rPr lang="nl-NL" sz="2000" dirty="0" err="1">
                <a:ea typeface="+mn-lt"/>
                <a:cs typeface="+mn-lt"/>
              </a:rPr>
              <a:t>due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to</a:t>
            </a:r>
            <a:r>
              <a:rPr lang="nl-NL" sz="2000" dirty="0">
                <a:ea typeface="+mn-lt"/>
                <a:cs typeface="+mn-lt"/>
              </a:rPr>
              <a:t> hardware </a:t>
            </a:r>
            <a:r>
              <a:rPr lang="nl-NL" sz="2000" dirty="0" err="1">
                <a:ea typeface="+mn-lt"/>
                <a:cs typeface="+mn-lt"/>
              </a:rPr>
              <a:t>limitations</a:t>
            </a:r>
            <a:r>
              <a:rPr lang="nl-NL" sz="2000" dirty="0">
                <a:ea typeface="+mn-lt"/>
                <a:cs typeface="+mn-lt"/>
              </a:rPr>
              <a:t> (</a:t>
            </a:r>
            <a:r>
              <a:rPr lang="nl-NL" sz="2000" dirty="0" err="1">
                <a:ea typeface="+mn-lt"/>
                <a:cs typeface="+mn-lt"/>
              </a:rPr>
              <a:t>finite</a:t>
            </a:r>
            <a:r>
              <a:rPr lang="nl-NL" sz="2000" dirty="0">
                <a:ea typeface="+mn-lt"/>
                <a:cs typeface="+mn-lt"/>
              </a:rPr>
              <a:t>-bit </a:t>
            </a:r>
            <a:r>
              <a:rPr lang="nl-NL" sz="2000" dirty="0" err="1">
                <a:ea typeface="+mn-lt"/>
                <a:cs typeface="+mn-lt"/>
              </a:rPr>
              <a:t>phase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shifters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and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attenuators</a:t>
            </a:r>
            <a:r>
              <a:rPr lang="nl-NL" sz="2000" dirty="0">
                <a:ea typeface="+mn-lt"/>
                <a:cs typeface="+mn-lt"/>
              </a:rPr>
              <a:t>). </a:t>
            </a:r>
            <a:r>
              <a:rPr lang="nl-NL" sz="2000" dirty="0" err="1">
                <a:ea typeface="+mn-lt"/>
                <a:cs typeface="+mn-lt"/>
              </a:rPr>
              <a:t>This</a:t>
            </a:r>
            <a:r>
              <a:rPr lang="nl-NL" sz="2000" dirty="0">
                <a:ea typeface="+mn-lt"/>
                <a:cs typeface="+mn-lt"/>
              </a:rPr>
              <a:t> project </a:t>
            </a:r>
            <a:r>
              <a:rPr lang="nl-NL" sz="2000" dirty="0" err="1">
                <a:ea typeface="+mn-lt"/>
                <a:cs typeface="+mn-lt"/>
              </a:rPr>
              <a:t>will</a:t>
            </a:r>
            <a:r>
              <a:rPr lang="nl-NL" sz="2000" dirty="0">
                <a:ea typeface="+mn-lt"/>
                <a:cs typeface="+mn-lt"/>
              </a:rPr>
              <a:t> help </a:t>
            </a:r>
            <a:r>
              <a:rPr lang="nl-NL" sz="2000" dirty="0" err="1">
                <a:ea typeface="+mn-lt"/>
                <a:cs typeface="+mn-lt"/>
              </a:rPr>
              <a:t>you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explore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how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such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quantization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affects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the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beam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pattern</a:t>
            </a:r>
            <a:r>
              <a:rPr lang="nl-NL" sz="2000" dirty="0">
                <a:ea typeface="+mn-lt"/>
                <a:cs typeface="+mn-lt"/>
              </a:rPr>
              <a:t>, </a:t>
            </a:r>
            <a:r>
              <a:rPr lang="nl-NL" sz="2000" dirty="0" err="1">
                <a:ea typeface="+mn-lt"/>
                <a:cs typeface="+mn-lt"/>
              </a:rPr>
              <a:t>especially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the</a:t>
            </a:r>
            <a:r>
              <a:rPr lang="nl-NL" sz="2000" dirty="0">
                <a:ea typeface="+mn-lt"/>
                <a:cs typeface="+mn-lt"/>
              </a:rPr>
              <a:t> </a:t>
            </a:r>
            <a:r>
              <a:rPr lang="nl-NL" sz="2000" dirty="0" err="1">
                <a:ea typeface="+mn-lt"/>
                <a:cs typeface="+mn-lt"/>
              </a:rPr>
              <a:t>sidelobe</a:t>
            </a:r>
            <a:r>
              <a:rPr lang="nl-NL" sz="2000" dirty="0">
                <a:ea typeface="+mn-lt"/>
                <a:cs typeface="+mn-lt"/>
              </a:rPr>
              <a:t> level.</a:t>
            </a:r>
            <a:endParaRPr lang="en-US" dirty="0">
              <a:ea typeface="+mn-lt"/>
              <a:cs typeface="+mn-lt"/>
            </a:endParaRPr>
          </a:p>
          <a:p>
            <a:r>
              <a:rPr lang="nl-NL" sz="2000" dirty="0"/>
              <a:t>In "</a:t>
            </a:r>
            <a:r>
              <a:rPr lang="nl-NL" sz="2000" dirty="0" err="1"/>
              <a:t>Pattern_Tapering_Lab</a:t>
            </a:r>
            <a:r>
              <a:rPr lang="nl-NL" sz="2000" dirty="0"/>
              <a:t>", </a:t>
            </a:r>
            <a:r>
              <a:rPr lang="nl-NL" sz="2000" dirty="0" err="1"/>
              <a:t>determine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default </a:t>
            </a:r>
            <a:r>
              <a:rPr lang="nl-NL" sz="2000" dirty="0" err="1"/>
              <a:t>quantization</a:t>
            </a:r>
            <a:r>
              <a:rPr lang="nl-NL" sz="2000" dirty="0"/>
              <a:t> </a:t>
            </a:r>
            <a:r>
              <a:rPr lang="nl-NL" sz="2000" dirty="0" err="1"/>
              <a:t>resolution</a:t>
            </a:r>
            <a:r>
              <a:rPr lang="nl-NL" sz="2000" dirty="0"/>
              <a:t> </a:t>
            </a:r>
            <a:r>
              <a:rPr lang="nl-NL" sz="2000" dirty="0" err="1"/>
              <a:t>used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both</a:t>
            </a:r>
            <a:r>
              <a:rPr lang="nl-NL" sz="2000" dirty="0"/>
              <a:t> amplitude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phase</a:t>
            </a:r>
            <a:r>
              <a:rPr lang="nl-NL" sz="2000" dirty="0"/>
              <a:t>.</a:t>
            </a:r>
          </a:p>
          <a:p>
            <a:r>
              <a:rPr lang="nl-NL" sz="2000" dirty="0"/>
              <a:t>According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theory</a:t>
            </a:r>
            <a:r>
              <a:rPr lang="nl-NL" sz="2000" dirty="0"/>
              <a:t> (</a:t>
            </a:r>
            <a:r>
              <a:rPr lang="nl-NL" sz="2000" dirty="0" err="1"/>
              <a:t>using</a:t>
            </a:r>
            <a:r>
              <a:rPr lang="nl-NL" sz="2000" dirty="0"/>
              <a:t> </a:t>
            </a:r>
            <a:r>
              <a:rPr lang="nl-NL" sz="2000" dirty="0" err="1"/>
              <a:t>equations</a:t>
            </a:r>
            <a:r>
              <a:rPr lang="nl-NL" sz="2000" dirty="0"/>
              <a:t>), </a:t>
            </a:r>
            <a:r>
              <a:rPr lang="nl-NL" sz="2000" dirty="0" err="1"/>
              <a:t>what</a:t>
            </a:r>
            <a:r>
              <a:rPr lang="nl-NL" sz="2000" dirty="0"/>
              <a:t> </a:t>
            </a:r>
            <a:r>
              <a:rPr lang="nl-NL" sz="2000" dirty="0" err="1"/>
              <a:t>happens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sidelobe</a:t>
            </a:r>
            <a:r>
              <a:rPr lang="nl-NL" sz="2000" dirty="0"/>
              <a:t> levels </a:t>
            </a:r>
            <a:r>
              <a:rPr lang="nl-NL" sz="2000" dirty="0" err="1"/>
              <a:t>when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quantization</a:t>
            </a:r>
            <a:r>
              <a:rPr lang="nl-NL" sz="2000" dirty="0"/>
              <a:t> </a:t>
            </a:r>
            <a:r>
              <a:rPr lang="nl-NL" sz="2000" dirty="0" err="1"/>
              <a:t>resolution</a:t>
            </a:r>
            <a:r>
              <a:rPr lang="nl-NL" sz="2000" dirty="0"/>
              <a:t> of amplitude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phase</a:t>
            </a:r>
            <a:r>
              <a:rPr lang="nl-NL" sz="2000" dirty="0"/>
              <a:t> </a:t>
            </a:r>
            <a:r>
              <a:rPr lang="nl-NL" sz="2000" dirty="0" err="1"/>
              <a:t>decreases</a:t>
            </a:r>
            <a:r>
              <a:rPr lang="nl-NL" sz="2000" dirty="0"/>
              <a:t>? </a:t>
            </a:r>
            <a:r>
              <a:rPr lang="nl-NL" sz="2000" dirty="0" err="1"/>
              <a:t>Calculate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theoretical</a:t>
            </a:r>
            <a:r>
              <a:rPr lang="nl-NL" sz="2000" dirty="0"/>
              <a:t> </a:t>
            </a:r>
            <a:r>
              <a:rPr lang="nl-NL" sz="2000" dirty="0" err="1"/>
              <a:t>sidelobe</a:t>
            </a:r>
            <a:r>
              <a:rPr lang="nl-NL" sz="2000" dirty="0"/>
              <a:t> levels </a:t>
            </a:r>
            <a:r>
              <a:rPr lang="nl-NL" sz="2000" dirty="0" err="1"/>
              <a:t>under</a:t>
            </a:r>
            <a:r>
              <a:rPr lang="nl-NL" sz="2000" dirty="0"/>
              <a:t> different </a:t>
            </a:r>
            <a:r>
              <a:rPr lang="nl-NL" sz="2000" dirty="0" err="1"/>
              <a:t>quantization</a:t>
            </a:r>
            <a:r>
              <a:rPr lang="nl-NL" sz="2000" dirty="0"/>
              <a:t> levels (</a:t>
            </a:r>
            <a:r>
              <a:rPr lang="nl-NL" sz="2000" dirty="0" err="1"/>
              <a:t>Reduce</a:t>
            </a:r>
            <a:r>
              <a:rPr lang="nl-NL" sz="2000" dirty="0"/>
              <a:t> </a:t>
            </a:r>
            <a:r>
              <a:rPr lang="nl-NL" sz="2000" dirty="0" err="1"/>
              <a:t>phase</a:t>
            </a:r>
            <a:r>
              <a:rPr lang="nl-NL" sz="2000" dirty="0"/>
              <a:t> </a:t>
            </a:r>
            <a:r>
              <a:rPr lang="nl-NL" sz="2000" dirty="0" err="1"/>
              <a:t>shifter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amplitude </a:t>
            </a:r>
            <a:r>
              <a:rPr lang="nl-NL" sz="2000" dirty="0" err="1"/>
              <a:t>weighting</a:t>
            </a:r>
            <a:r>
              <a:rPr lang="nl-NL" sz="2000" dirty="0"/>
              <a:t> </a:t>
            </a:r>
            <a:r>
              <a:rPr lang="nl-NL" sz="2000" dirty="0" err="1"/>
              <a:t>quantization</a:t>
            </a:r>
            <a:r>
              <a:rPr lang="nl-NL" sz="2000" dirty="0"/>
              <a:t> </a:t>
            </a:r>
            <a:r>
              <a:rPr lang="nl-NL" sz="2000" dirty="0" err="1"/>
              <a:t>by</a:t>
            </a:r>
            <a:r>
              <a:rPr lang="nl-NL" sz="2000" dirty="0"/>
              <a:t> 1 bit, 2, 3, 4, …).</a:t>
            </a:r>
            <a:endParaRPr lang="nl-NL" dirty="0"/>
          </a:p>
          <a:p>
            <a:r>
              <a:rPr lang="nl-NL" sz="2000" dirty="0"/>
              <a:t>Write a MATLAB script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simulate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effect of these different </a:t>
            </a:r>
            <a:r>
              <a:rPr lang="nl-NL" sz="2000" dirty="0" err="1"/>
              <a:t>quantization</a:t>
            </a:r>
            <a:r>
              <a:rPr lang="nl-NL" sz="2000" dirty="0"/>
              <a:t> levels on </a:t>
            </a:r>
            <a:r>
              <a:rPr lang="nl-NL" sz="2000" dirty="0" err="1"/>
              <a:t>the</a:t>
            </a:r>
            <a:r>
              <a:rPr lang="nl-NL" sz="2000" dirty="0"/>
              <a:t> array </a:t>
            </a:r>
            <a:r>
              <a:rPr lang="nl-NL" sz="2000" dirty="0" err="1"/>
              <a:t>beam</a:t>
            </a:r>
            <a:r>
              <a:rPr lang="nl-NL" sz="2000" dirty="0"/>
              <a:t> </a:t>
            </a:r>
            <a:r>
              <a:rPr lang="nl-NL" sz="2000" dirty="0" err="1"/>
              <a:t>pattern</a:t>
            </a:r>
            <a:r>
              <a:rPr lang="nl-NL" sz="2000" dirty="0"/>
              <a:t>. Keep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same</a:t>
            </a:r>
            <a:r>
              <a:rPr lang="nl-NL" sz="2000" dirty="0"/>
              <a:t> amplitude tapering as in "</a:t>
            </a:r>
            <a:r>
              <a:rPr lang="nl-NL" sz="2000" dirty="0" err="1"/>
              <a:t>Pattern_Tapering_Lab</a:t>
            </a:r>
            <a:r>
              <a:rPr lang="nl-NL" sz="2000" dirty="0"/>
              <a:t>"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vary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quantization</a:t>
            </a:r>
            <a:r>
              <a:rPr lang="nl-NL" sz="2000" dirty="0"/>
              <a:t> levels of </a:t>
            </a:r>
            <a:r>
              <a:rPr lang="nl-NL" sz="2000" dirty="0" err="1"/>
              <a:t>the</a:t>
            </a:r>
            <a:r>
              <a:rPr lang="nl-NL" sz="2000" dirty="0"/>
              <a:t> amplitude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phase</a:t>
            </a:r>
            <a:r>
              <a:rPr lang="nl-NL" sz="2000" dirty="0"/>
              <a:t>.</a:t>
            </a:r>
          </a:p>
          <a:p>
            <a:r>
              <a:rPr lang="nl-NL" sz="2000" dirty="0"/>
              <a:t>In "</a:t>
            </a:r>
            <a:r>
              <a:rPr lang="nl-NL" sz="2000" dirty="0" err="1"/>
              <a:t>Pattern_Tapering_Lab</a:t>
            </a:r>
            <a:r>
              <a:rPr lang="nl-NL" sz="2000" dirty="0"/>
              <a:t>", change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quantization</a:t>
            </a:r>
            <a:r>
              <a:rPr lang="nl-NL" sz="2000" dirty="0"/>
              <a:t> </a:t>
            </a:r>
            <a:r>
              <a:rPr lang="nl-NL" sz="2000" dirty="0" err="1"/>
              <a:t>resolution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amplitude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phase</a:t>
            </a:r>
            <a:r>
              <a:rPr lang="nl-NL" sz="2000" dirty="0"/>
              <a:t>. </a:t>
            </a:r>
            <a:r>
              <a:rPr lang="nl-NL" sz="2000" dirty="0" err="1"/>
              <a:t>Perform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measurements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record </a:t>
            </a:r>
            <a:r>
              <a:rPr lang="nl-NL" sz="2000" dirty="0" err="1"/>
              <a:t>your</a:t>
            </a:r>
            <a:r>
              <a:rPr lang="nl-NL" sz="2000" dirty="0"/>
              <a:t> </a:t>
            </a:r>
            <a:r>
              <a:rPr lang="nl-NL" sz="2000" dirty="0" err="1"/>
              <a:t>observations</a:t>
            </a:r>
            <a:r>
              <a:rPr lang="nl-NL" sz="2000" dirty="0"/>
              <a:t>. Focus on </a:t>
            </a:r>
            <a:r>
              <a:rPr lang="nl-NL" sz="2000" dirty="0" err="1"/>
              <a:t>how</a:t>
            </a:r>
            <a:r>
              <a:rPr lang="nl-NL" sz="2000" dirty="0"/>
              <a:t> </a:t>
            </a:r>
            <a:r>
              <a:rPr lang="nl-NL" sz="2000" dirty="0" err="1"/>
              <a:t>sidelobe</a:t>
            </a:r>
            <a:r>
              <a:rPr lang="nl-NL" sz="2000" dirty="0"/>
              <a:t> </a:t>
            </a:r>
            <a:r>
              <a:rPr lang="nl-NL" sz="2000" dirty="0" err="1"/>
              <a:t>characteristic</a:t>
            </a:r>
            <a:r>
              <a:rPr lang="nl-NL" sz="2000" dirty="0"/>
              <a:t> change. (Tip: </a:t>
            </a:r>
            <a:r>
              <a:rPr lang="nl-NL" sz="2000" dirty="0" err="1"/>
              <a:t>place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source in </a:t>
            </a:r>
            <a:r>
              <a:rPr lang="nl-NL" sz="2000" dirty="0" err="1"/>
              <a:t>an</a:t>
            </a:r>
            <a:r>
              <a:rPr lang="nl-NL" sz="2000" dirty="0"/>
              <a:t> off-</a:t>
            </a:r>
            <a:r>
              <a:rPr lang="nl-NL" sz="2000" dirty="0" err="1"/>
              <a:t>broadside</a:t>
            </a:r>
            <a:r>
              <a:rPr lang="nl-NL" sz="2000" dirty="0"/>
              <a:t> </a:t>
            </a:r>
            <a:r>
              <a:rPr lang="nl-NL" sz="2000" dirty="0" err="1"/>
              <a:t>direction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see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effects</a:t>
            </a:r>
            <a:r>
              <a:rPr lang="nl-NL" sz="2000" dirty="0"/>
              <a:t> more </a:t>
            </a:r>
            <a:r>
              <a:rPr lang="nl-NL" sz="2000" dirty="0" err="1"/>
              <a:t>clearly</a:t>
            </a:r>
            <a:r>
              <a:rPr lang="nl-NL" sz="2000" dirty="0"/>
              <a:t>.) </a:t>
            </a:r>
            <a:r>
              <a:rPr lang="nl-NL" sz="2000" dirty="0" err="1"/>
              <a:t>Also</a:t>
            </a:r>
            <a:r>
              <a:rPr lang="nl-NL" sz="2000" dirty="0"/>
              <a:t> analyse </a:t>
            </a:r>
            <a:r>
              <a:rPr lang="nl-NL" sz="2000" dirty="0" err="1"/>
              <a:t>the</a:t>
            </a:r>
            <a:r>
              <a:rPr lang="nl-NL" sz="2000" dirty="0"/>
              <a:t> effect on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gain</a:t>
            </a:r>
            <a:r>
              <a:rPr lang="nl-NL" sz="2000" dirty="0"/>
              <a:t> of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beam</a:t>
            </a:r>
            <a:r>
              <a:rPr lang="nl-NL" sz="2000" dirty="0"/>
              <a:t>. </a:t>
            </a:r>
          </a:p>
          <a:p>
            <a:endParaRPr lang="nl-NL" sz="2000"/>
          </a:p>
        </p:txBody>
      </p:sp>
    </p:spTree>
    <p:extLst>
      <p:ext uri="{BB962C8B-B14F-4D97-AF65-F5344CB8AC3E}">
        <p14:creationId xmlns:p14="http://schemas.microsoft.com/office/powerpoint/2010/main" val="297605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76C2-A3DF-46C5-061C-92455368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046056-F24F-AC35-7BEF-DDA03333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543"/>
            <a:ext cx="10515600" cy="848267"/>
          </a:xfrm>
        </p:spPr>
        <p:txBody>
          <a:bodyPr>
            <a:normAutofit fontScale="90000"/>
          </a:bodyPr>
          <a:lstStyle/>
          <a:p>
            <a:r>
              <a:rPr lang="nl-NL" err="1"/>
              <a:t>Quantization</a:t>
            </a:r>
            <a:r>
              <a:rPr lang="nl-NL"/>
              <a:t> in </a:t>
            </a:r>
            <a:r>
              <a:rPr lang="nl-NL" err="1"/>
              <a:t>phased</a:t>
            </a:r>
            <a:r>
              <a:rPr lang="nl-NL"/>
              <a:t>-array </a:t>
            </a:r>
            <a:r>
              <a:rPr lang="nl-NL" err="1"/>
              <a:t>beamforming</a:t>
            </a:r>
            <a:br>
              <a:rPr lang="nl-NL"/>
            </a:br>
            <a:r>
              <a:rPr lang="nl-NL"/>
              <a:t>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DE5AB0-C3A9-5BD4-65E4-2B5FFAB82DC9}"/>
              </a:ext>
            </a:extLst>
          </p:cNvPr>
          <p:cNvGrpSpPr/>
          <p:nvPr/>
        </p:nvGrpSpPr>
        <p:grpSpPr>
          <a:xfrm>
            <a:off x="290223" y="1391942"/>
            <a:ext cx="3956423" cy="2577284"/>
            <a:chOff x="412687" y="2194763"/>
            <a:chExt cx="3956423" cy="2577284"/>
          </a:xfrm>
        </p:grpSpPr>
        <p:pic>
          <p:nvPicPr>
            <p:cNvPr id="6" name="Picture 5" descr="A graph of a normalized array pattern&#10;&#10;AI-generated content may be incorrect.">
              <a:extLst>
                <a:ext uri="{FF2B5EF4-FFF2-40B4-BE49-F238E27FC236}">
                  <a16:creationId xmlns:a16="http://schemas.microsoft.com/office/drawing/2014/main" id="{40873352-36F4-6D2B-9324-7A475E51A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687" y="2561792"/>
              <a:ext cx="3367344" cy="221025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6A2984-4BA8-1D5D-E57E-E3DB9BD7FD5E}"/>
                </a:ext>
              </a:extLst>
            </p:cNvPr>
            <p:cNvSpPr txBox="1"/>
            <p:nvPr/>
          </p:nvSpPr>
          <p:spPr>
            <a:xfrm>
              <a:off x="673741" y="2194763"/>
              <a:ext cx="369536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7-bit phase, 0.5 dB amplitude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DDBA0C-BE75-CA50-BDA3-5178A7105C75}"/>
              </a:ext>
            </a:extLst>
          </p:cNvPr>
          <p:cNvGrpSpPr/>
          <p:nvPr/>
        </p:nvGrpSpPr>
        <p:grpSpPr>
          <a:xfrm>
            <a:off x="3941309" y="1394663"/>
            <a:ext cx="4090844" cy="2579303"/>
            <a:chOff x="4369934" y="2496842"/>
            <a:chExt cx="4090844" cy="2579303"/>
          </a:xfrm>
        </p:grpSpPr>
        <p:pic>
          <p:nvPicPr>
            <p:cNvPr id="8" name="Picture 7" descr="A graph of a normalized array pattern&#10;&#10;AI-generated content may be incorrect.">
              <a:extLst>
                <a:ext uri="{FF2B5EF4-FFF2-40B4-BE49-F238E27FC236}">
                  <a16:creationId xmlns:a16="http://schemas.microsoft.com/office/drawing/2014/main" id="{517A2CEC-9D73-1C3B-ACE8-98997ECE1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9934" y="2836408"/>
              <a:ext cx="3302455" cy="22397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7A080E-7F36-34F5-4841-74DF6EE68341}"/>
                </a:ext>
              </a:extLst>
            </p:cNvPr>
            <p:cNvSpPr txBox="1"/>
            <p:nvPr/>
          </p:nvSpPr>
          <p:spPr>
            <a:xfrm>
              <a:off x="4765409" y="2496842"/>
              <a:ext cx="369536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5-bit phase, 2 dB amplitude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BA12A2-1971-ED1A-3EFD-8DD407DA0E6F}"/>
              </a:ext>
            </a:extLst>
          </p:cNvPr>
          <p:cNvGrpSpPr/>
          <p:nvPr/>
        </p:nvGrpSpPr>
        <p:grpSpPr>
          <a:xfrm>
            <a:off x="7681576" y="1336152"/>
            <a:ext cx="4047638" cy="2637601"/>
            <a:chOff x="7681576" y="1336152"/>
            <a:chExt cx="4047638" cy="2637601"/>
          </a:xfrm>
        </p:grpSpPr>
        <p:pic>
          <p:nvPicPr>
            <p:cNvPr id="13" name="Picture 12" descr="A graph of a normalized array pattern&#10;&#10;AI-generated content may be incorrect.">
              <a:extLst>
                <a:ext uri="{FF2B5EF4-FFF2-40B4-BE49-F238E27FC236}">
                  <a16:creationId xmlns:a16="http://schemas.microsoft.com/office/drawing/2014/main" id="{EB95BA80-75D6-C352-61AC-5BC1C4DB3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1576" y="1712245"/>
              <a:ext cx="3347358" cy="226150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686C8D-74FA-C058-1DB3-D7F5235C0B18}"/>
                </a:ext>
              </a:extLst>
            </p:cNvPr>
            <p:cNvSpPr txBox="1"/>
            <p:nvPr/>
          </p:nvSpPr>
          <p:spPr>
            <a:xfrm>
              <a:off x="8033845" y="1336152"/>
              <a:ext cx="369536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2-bit phase, 8 dB amplitude</a:t>
              </a:r>
            </a:p>
          </p:txBody>
        </p:sp>
      </p:grpSp>
      <p:pic>
        <p:nvPicPr>
          <p:cNvPr id="3" name="Afbeelding 2" descr="Afbeelding met tekst, Perceel, diagram, schermopname&#10;&#10;Door AI gegenereerde inhoud is mogelijk onjuist.">
            <a:extLst>
              <a:ext uri="{FF2B5EF4-FFF2-40B4-BE49-F238E27FC236}">
                <a16:creationId xmlns:a16="http://schemas.microsoft.com/office/drawing/2014/main" id="{F9B070B6-D71C-BF7B-66E2-067134E79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12" y="4513995"/>
            <a:ext cx="3238500" cy="2187087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810AA25B-BE73-2978-CCF6-DB78EA3926A4}"/>
              </a:ext>
            </a:extLst>
          </p:cNvPr>
          <p:cNvSpPr txBox="1"/>
          <p:nvPr/>
        </p:nvSpPr>
        <p:spPr>
          <a:xfrm>
            <a:off x="293370" y="4064803"/>
            <a:ext cx="3695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Simulation 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34D132B2-2857-5FAF-DCEE-8AD295BA0F0B}"/>
              </a:ext>
            </a:extLst>
          </p:cNvPr>
          <p:cNvSpPr txBox="1"/>
          <p:nvPr/>
        </p:nvSpPr>
        <p:spPr>
          <a:xfrm>
            <a:off x="4103370" y="4670495"/>
            <a:ext cx="3695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Analytical </a:t>
            </a:r>
          </a:p>
        </p:txBody>
      </p:sp>
      <p:pic>
        <p:nvPicPr>
          <p:cNvPr id="4" name="Afbeelding 3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C93CDE89-2662-1A92-40EC-D616DA335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454" y="5046080"/>
            <a:ext cx="37338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AC538-08F7-F1AD-E4A5-34FFAFD7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67"/>
          </a:xfrm>
        </p:spPr>
        <p:txBody>
          <a:bodyPr/>
          <a:lstStyle/>
          <a:p>
            <a:r>
              <a:rPr lang="nl-NL" err="1"/>
              <a:t>Calibration</a:t>
            </a:r>
            <a:r>
              <a:rPr lang="nl-NL"/>
              <a:t> </a:t>
            </a:r>
            <a:r>
              <a:rPr lang="nl-NL" err="1"/>
              <a:t>accuracy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F372CD-2C53-CE2A-7930-38337AF16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076"/>
            <a:ext cx="11039475" cy="51217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 sz="2000"/>
              <a:t>Accurate </a:t>
            </a:r>
            <a:r>
              <a:rPr lang="nl-NL" sz="2000" err="1"/>
              <a:t>calibration</a:t>
            </a:r>
            <a:r>
              <a:rPr lang="nl-NL" sz="2000"/>
              <a:t> is </a:t>
            </a:r>
            <a:r>
              <a:rPr lang="nl-NL" sz="2000" err="1"/>
              <a:t>essential</a:t>
            </a:r>
            <a:r>
              <a:rPr lang="nl-NL" sz="2000"/>
              <a:t> </a:t>
            </a:r>
            <a:r>
              <a:rPr lang="nl-NL" sz="2000" err="1"/>
              <a:t>for</a:t>
            </a:r>
            <a:r>
              <a:rPr lang="nl-NL" sz="2000"/>
              <a:t> </a:t>
            </a:r>
            <a:r>
              <a:rPr lang="nl-NL" sz="2000" err="1"/>
              <a:t>phased</a:t>
            </a:r>
            <a:r>
              <a:rPr lang="nl-NL" sz="2000"/>
              <a:t>-array </a:t>
            </a:r>
            <a:r>
              <a:rPr lang="nl-NL" sz="2000" err="1"/>
              <a:t>antennas</a:t>
            </a:r>
            <a:r>
              <a:rPr lang="nl-NL" sz="2000"/>
              <a:t>, </a:t>
            </a:r>
            <a:r>
              <a:rPr lang="nl-NL" sz="2000" err="1"/>
              <a:t>since</a:t>
            </a:r>
            <a:r>
              <a:rPr lang="nl-NL" sz="2000"/>
              <a:t> </a:t>
            </a:r>
            <a:r>
              <a:rPr lang="nl-NL" sz="2000" err="1"/>
              <a:t>erros</a:t>
            </a:r>
            <a:r>
              <a:rPr lang="nl-NL" sz="2000"/>
              <a:t> in amplitude or </a:t>
            </a:r>
            <a:r>
              <a:rPr lang="nl-NL" sz="2000" err="1"/>
              <a:t>phase</a:t>
            </a:r>
            <a:r>
              <a:rPr lang="nl-NL" sz="2000"/>
              <a:t> </a:t>
            </a:r>
            <a:r>
              <a:rPr lang="nl-NL" sz="2000" err="1"/>
              <a:t>across</a:t>
            </a:r>
            <a:r>
              <a:rPr lang="nl-NL" sz="2000"/>
              <a:t> </a:t>
            </a:r>
            <a:r>
              <a:rPr lang="nl-NL" sz="2000" err="1"/>
              <a:t>elements</a:t>
            </a:r>
            <a:r>
              <a:rPr lang="nl-NL" sz="2000"/>
              <a:t> </a:t>
            </a:r>
            <a:r>
              <a:rPr lang="nl-NL" sz="2000" err="1"/>
              <a:t>can</a:t>
            </a:r>
            <a:r>
              <a:rPr lang="nl-NL" sz="2000"/>
              <a:t> </a:t>
            </a:r>
            <a:r>
              <a:rPr lang="nl-NL" sz="2000" err="1"/>
              <a:t>distort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beam</a:t>
            </a:r>
            <a:r>
              <a:rPr lang="nl-NL" sz="2000"/>
              <a:t> </a:t>
            </a:r>
            <a:r>
              <a:rPr lang="nl-NL" sz="2000" err="1"/>
              <a:t>pattern</a:t>
            </a:r>
            <a:r>
              <a:rPr lang="nl-NL" sz="2000"/>
              <a:t>. In </a:t>
            </a:r>
            <a:r>
              <a:rPr lang="nl-NL" sz="2000" err="1"/>
              <a:t>this</a:t>
            </a:r>
            <a:r>
              <a:rPr lang="nl-NL" sz="2000"/>
              <a:t> project, </a:t>
            </a:r>
            <a:r>
              <a:rPr lang="nl-NL" sz="2000" err="1"/>
              <a:t>you</a:t>
            </a:r>
            <a:r>
              <a:rPr lang="nl-NL" sz="2000"/>
              <a:t> </a:t>
            </a:r>
            <a:r>
              <a:rPr lang="nl-NL" sz="2000" err="1"/>
              <a:t>will</a:t>
            </a:r>
            <a:r>
              <a:rPr lang="nl-NL" sz="2000"/>
              <a:t> </a:t>
            </a:r>
            <a:r>
              <a:rPr lang="nl-NL" sz="2000" err="1"/>
              <a:t>investigate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effect of </a:t>
            </a:r>
            <a:r>
              <a:rPr lang="nl-NL" sz="2000" err="1"/>
              <a:t>calibration</a:t>
            </a:r>
            <a:r>
              <a:rPr lang="nl-NL" sz="2000"/>
              <a:t> </a:t>
            </a:r>
            <a:r>
              <a:rPr lang="nl-NL" sz="2000" err="1"/>
              <a:t>accuracy</a:t>
            </a:r>
            <a:r>
              <a:rPr lang="nl-NL" sz="2000"/>
              <a:t>, </a:t>
            </a:r>
            <a:r>
              <a:rPr lang="nl-NL" sz="2000" err="1"/>
              <a:t>study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relative</a:t>
            </a:r>
            <a:r>
              <a:rPr lang="nl-NL" sz="2000"/>
              <a:t> </a:t>
            </a:r>
            <a:r>
              <a:rPr lang="nl-NL" sz="2000" err="1"/>
              <a:t>importance</a:t>
            </a:r>
            <a:r>
              <a:rPr lang="nl-NL" sz="2000"/>
              <a:t> of amplitude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phase</a:t>
            </a:r>
            <a:r>
              <a:rPr lang="nl-NL" sz="2000"/>
              <a:t> </a:t>
            </a:r>
            <a:r>
              <a:rPr lang="nl-NL" sz="2000" err="1"/>
              <a:t>corrections</a:t>
            </a:r>
            <a:r>
              <a:rPr lang="nl-NL" sz="2000"/>
              <a:t>,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compare</a:t>
            </a:r>
            <a:r>
              <a:rPr lang="nl-NL" sz="2000"/>
              <a:t> </a:t>
            </a:r>
            <a:r>
              <a:rPr lang="nl-NL" sz="2000" err="1"/>
              <a:t>calibration</a:t>
            </a:r>
            <a:r>
              <a:rPr lang="nl-NL" sz="2000"/>
              <a:t> at </a:t>
            </a:r>
            <a:r>
              <a:rPr lang="nl-NL" sz="2000" err="1"/>
              <a:t>near</a:t>
            </a:r>
            <a:r>
              <a:rPr lang="nl-NL" sz="2000"/>
              <a:t>- vs. far- </a:t>
            </a:r>
            <a:r>
              <a:rPr lang="nl-NL" sz="2000" err="1"/>
              <a:t>distances</a:t>
            </a:r>
            <a:r>
              <a:rPr lang="nl-NL" sz="2000"/>
              <a:t>.</a:t>
            </a:r>
          </a:p>
          <a:p>
            <a:r>
              <a:rPr lang="nl-NL" sz="2000" err="1"/>
              <a:t>Perform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calibration</a:t>
            </a:r>
            <a:r>
              <a:rPr lang="nl-NL" sz="2000"/>
              <a:t> at close range (</a:t>
            </a:r>
            <a:r>
              <a:rPr lang="nl-NL" sz="2000" err="1"/>
              <a:t>approximately</a:t>
            </a:r>
            <a:r>
              <a:rPr lang="nl-NL" sz="2000"/>
              <a:t> 1 m), plot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resulting</a:t>
            </a:r>
            <a:r>
              <a:rPr lang="nl-NL" sz="2000"/>
              <a:t> </a:t>
            </a:r>
            <a:r>
              <a:rPr lang="nl-NL" sz="2000" err="1"/>
              <a:t>beam</a:t>
            </a:r>
            <a:r>
              <a:rPr lang="nl-NL" sz="2000"/>
              <a:t> </a:t>
            </a:r>
            <a:r>
              <a:rPr lang="nl-NL" sz="2000" err="1"/>
              <a:t>pattern</a:t>
            </a:r>
            <a:r>
              <a:rPr lang="nl-NL" sz="2000"/>
              <a:t>. </a:t>
            </a:r>
            <a:endParaRPr lang="nl-NL"/>
          </a:p>
          <a:p>
            <a:r>
              <a:rPr lang="nl-NL" sz="2000" err="1"/>
              <a:t>Investigate</a:t>
            </a:r>
            <a:r>
              <a:rPr lang="nl-NL" sz="2000"/>
              <a:t> </a:t>
            </a:r>
            <a:r>
              <a:rPr lang="nl-NL" sz="2000" err="1"/>
              <a:t>which</a:t>
            </a:r>
            <a:r>
              <a:rPr lang="nl-NL" sz="2000"/>
              <a:t> </a:t>
            </a:r>
            <a:r>
              <a:rPr lang="nl-NL" sz="2000" err="1"/>
              <a:t>calibration</a:t>
            </a:r>
            <a:r>
              <a:rPr lang="nl-NL" sz="2000"/>
              <a:t> parameter has more </a:t>
            </a:r>
            <a:r>
              <a:rPr lang="nl-NL" sz="2000" err="1"/>
              <a:t>influence</a:t>
            </a:r>
            <a:r>
              <a:rPr lang="nl-NL" sz="2000"/>
              <a:t> on </a:t>
            </a:r>
            <a:r>
              <a:rPr lang="nl-NL" sz="2000" err="1"/>
              <a:t>beam</a:t>
            </a:r>
            <a:r>
              <a:rPr lang="nl-NL" sz="2000"/>
              <a:t> </a:t>
            </a:r>
            <a:r>
              <a:rPr lang="nl-NL" sz="2000" err="1"/>
              <a:t>quality</a:t>
            </a:r>
            <a:r>
              <a:rPr lang="nl-NL" sz="2000"/>
              <a:t>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1600" err="1"/>
              <a:t>Perform</a:t>
            </a:r>
            <a:r>
              <a:rPr lang="nl-NL" sz="1600"/>
              <a:t> </a:t>
            </a:r>
            <a:r>
              <a:rPr lang="nl-NL" sz="1600" err="1"/>
              <a:t>phase</a:t>
            </a:r>
            <a:r>
              <a:rPr lang="nl-NL" sz="1600"/>
              <a:t> </a:t>
            </a:r>
            <a:r>
              <a:rPr lang="nl-NL" sz="1600" err="1"/>
              <a:t>only</a:t>
            </a:r>
            <a:r>
              <a:rPr lang="nl-NL" sz="1600"/>
              <a:t> </a:t>
            </a:r>
            <a:r>
              <a:rPr lang="nl-NL" sz="1600" err="1"/>
              <a:t>calibration</a:t>
            </a:r>
            <a:r>
              <a:rPr lang="nl-NL" sz="1600"/>
              <a:t>, </a:t>
            </a:r>
            <a:r>
              <a:rPr lang="nl-NL" sz="1600" err="1"/>
              <a:t>and</a:t>
            </a:r>
            <a:r>
              <a:rPr lang="nl-NL" sz="1600"/>
              <a:t> plot </a:t>
            </a:r>
            <a:r>
              <a:rPr lang="nl-NL" sz="1600" err="1"/>
              <a:t>the</a:t>
            </a:r>
            <a:r>
              <a:rPr lang="nl-NL" sz="1600"/>
              <a:t> </a:t>
            </a:r>
            <a:r>
              <a:rPr lang="nl-NL" sz="1600" err="1"/>
              <a:t>beam</a:t>
            </a:r>
            <a:r>
              <a:rPr lang="nl-NL" sz="1600"/>
              <a:t> </a:t>
            </a:r>
            <a:r>
              <a:rPr lang="nl-NL" sz="1600" err="1"/>
              <a:t>pattern</a:t>
            </a:r>
            <a:r>
              <a:rPr lang="nl-NL" sz="1600"/>
              <a:t>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1600" err="1"/>
              <a:t>Perform</a:t>
            </a:r>
            <a:r>
              <a:rPr lang="nl-NL" sz="1600"/>
              <a:t> amplitude-</a:t>
            </a:r>
            <a:r>
              <a:rPr lang="nl-NL" sz="1600" err="1"/>
              <a:t>only</a:t>
            </a:r>
            <a:r>
              <a:rPr lang="nl-NL" sz="1600"/>
              <a:t> </a:t>
            </a:r>
            <a:r>
              <a:rPr lang="nl-NL" sz="1600" err="1"/>
              <a:t>calibration</a:t>
            </a:r>
            <a:r>
              <a:rPr lang="nl-NL" sz="1600"/>
              <a:t> </a:t>
            </a:r>
            <a:r>
              <a:rPr lang="nl-NL" sz="1600" err="1"/>
              <a:t>and</a:t>
            </a:r>
            <a:r>
              <a:rPr lang="nl-NL" sz="1600"/>
              <a:t> plot </a:t>
            </a:r>
            <a:r>
              <a:rPr lang="nl-NL" sz="1600" err="1"/>
              <a:t>the</a:t>
            </a:r>
            <a:r>
              <a:rPr lang="nl-NL" sz="1600"/>
              <a:t> </a:t>
            </a:r>
            <a:r>
              <a:rPr lang="nl-NL" sz="1600" err="1"/>
              <a:t>beam</a:t>
            </a:r>
            <a:r>
              <a:rPr lang="nl-NL" sz="1600"/>
              <a:t> </a:t>
            </a:r>
            <a:r>
              <a:rPr lang="nl-NL" sz="1600" err="1"/>
              <a:t>pattern</a:t>
            </a:r>
            <a:r>
              <a:rPr lang="nl-NL" sz="1600"/>
              <a:t>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1600" err="1"/>
              <a:t>Compare</a:t>
            </a:r>
            <a:r>
              <a:rPr lang="nl-NL" sz="1600"/>
              <a:t> </a:t>
            </a:r>
            <a:r>
              <a:rPr lang="nl-NL" sz="1600" err="1"/>
              <a:t>both</a:t>
            </a:r>
            <a:r>
              <a:rPr lang="nl-NL" sz="1600"/>
              <a:t> cases </a:t>
            </a:r>
            <a:r>
              <a:rPr lang="nl-NL" sz="1600" err="1"/>
              <a:t>with</a:t>
            </a:r>
            <a:r>
              <a:rPr lang="nl-NL" sz="1600"/>
              <a:t> </a:t>
            </a:r>
            <a:r>
              <a:rPr lang="nl-NL" sz="1600" err="1"/>
              <a:t>the</a:t>
            </a:r>
            <a:r>
              <a:rPr lang="nl-NL" sz="1600"/>
              <a:t> full </a:t>
            </a:r>
            <a:r>
              <a:rPr lang="nl-NL" sz="1600" err="1"/>
              <a:t>calibration</a:t>
            </a:r>
            <a:r>
              <a:rPr lang="nl-NL" sz="160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 sz="1600" err="1"/>
              <a:t>Conclude</a:t>
            </a:r>
            <a:r>
              <a:rPr lang="nl-NL" sz="1600"/>
              <a:t>: Is </a:t>
            </a:r>
            <a:r>
              <a:rPr lang="nl-NL" sz="1600" err="1"/>
              <a:t>phase</a:t>
            </a:r>
            <a:r>
              <a:rPr lang="nl-NL" sz="1600"/>
              <a:t> or amplitude </a:t>
            </a:r>
            <a:r>
              <a:rPr lang="nl-NL" sz="1600" err="1"/>
              <a:t>correction</a:t>
            </a:r>
            <a:r>
              <a:rPr lang="nl-NL" sz="1600"/>
              <a:t> more </a:t>
            </a:r>
            <a:r>
              <a:rPr lang="nl-NL" sz="1600" err="1"/>
              <a:t>critical</a:t>
            </a:r>
            <a:r>
              <a:rPr lang="nl-NL" sz="1600"/>
              <a:t> </a:t>
            </a:r>
            <a:r>
              <a:rPr lang="nl-NL" sz="1600" err="1"/>
              <a:t>for</a:t>
            </a:r>
            <a:r>
              <a:rPr lang="nl-NL" sz="1600"/>
              <a:t> </a:t>
            </a:r>
            <a:r>
              <a:rPr lang="nl-NL" sz="1600" err="1"/>
              <a:t>beam</a:t>
            </a:r>
            <a:r>
              <a:rPr lang="nl-NL" sz="1600"/>
              <a:t> </a:t>
            </a:r>
            <a:r>
              <a:rPr lang="nl-NL" sz="1600" err="1"/>
              <a:t>accuracy</a:t>
            </a:r>
            <a:r>
              <a:rPr lang="nl-NL" sz="1600"/>
              <a:t>?</a:t>
            </a:r>
          </a:p>
          <a:p>
            <a:r>
              <a:rPr lang="nl-NL" sz="2000"/>
              <a:t>Using "</a:t>
            </a:r>
            <a:r>
              <a:rPr lang="nl-NL" sz="2000" err="1"/>
              <a:t>Pattern_Tapering_Lab.mlx</a:t>
            </a:r>
            <a:r>
              <a:rPr lang="nl-NL" sz="2000"/>
              <a:t>", set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lowest</a:t>
            </a:r>
            <a:r>
              <a:rPr lang="nl-NL" sz="2000"/>
              <a:t> side </a:t>
            </a:r>
            <a:r>
              <a:rPr lang="nl-NL" sz="2000" err="1"/>
              <a:t>lobe</a:t>
            </a:r>
            <a:r>
              <a:rPr lang="nl-NL" sz="2000"/>
              <a:t> level in </a:t>
            </a:r>
            <a:r>
              <a:rPr lang="nl-NL" sz="2000" err="1"/>
              <a:t>the</a:t>
            </a:r>
            <a:r>
              <a:rPr lang="nl-NL" sz="2000"/>
              <a:t> tapering setting </a:t>
            </a:r>
            <a:r>
              <a:rPr lang="nl-NL" sz="2000" err="1"/>
              <a:t>and</a:t>
            </a:r>
            <a:r>
              <a:rPr lang="nl-NL" sz="2000"/>
              <a:t> </a:t>
            </a:r>
            <a:r>
              <a:rPr lang="nl-NL" sz="2000" err="1"/>
              <a:t>perform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. Plot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pattern</a:t>
            </a:r>
            <a:r>
              <a:rPr lang="nl-NL" sz="2000"/>
              <a:t> </a:t>
            </a:r>
            <a:r>
              <a:rPr lang="nl-NL" sz="2000" err="1"/>
              <a:t>you</a:t>
            </a:r>
            <a:r>
              <a:rPr lang="nl-NL" sz="2000"/>
              <a:t> </a:t>
            </a:r>
            <a:r>
              <a:rPr lang="nl-NL" sz="2000" err="1"/>
              <a:t>just</a:t>
            </a:r>
            <a:r>
              <a:rPr lang="nl-NL" sz="2000"/>
              <a:t> </a:t>
            </a:r>
            <a:r>
              <a:rPr lang="nl-NL" sz="2000" err="1"/>
              <a:t>measured</a:t>
            </a:r>
            <a:r>
              <a:rPr lang="nl-NL" sz="2000"/>
              <a:t>,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determine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sidelobe</a:t>
            </a:r>
            <a:r>
              <a:rPr lang="nl-NL" sz="2000"/>
              <a:t> level </a:t>
            </a:r>
            <a:r>
              <a:rPr lang="nl-NL" sz="2000" err="1"/>
              <a:t>you</a:t>
            </a:r>
            <a:r>
              <a:rPr lang="nl-NL" sz="2000"/>
              <a:t> </a:t>
            </a:r>
            <a:r>
              <a:rPr lang="nl-NL" sz="2000" err="1"/>
              <a:t>can</a:t>
            </a:r>
            <a:r>
              <a:rPr lang="nl-NL" sz="2000"/>
              <a:t> </a:t>
            </a:r>
            <a:r>
              <a:rPr lang="nl-NL" sz="2000" err="1"/>
              <a:t>achieve</a:t>
            </a:r>
            <a:r>
              <a:rPr lang="nl-NL" sz="2000"/>
              <a:t>.</a:t>
            </a:r>
            <a:endParaRPr lang="nl-NL"/>
          </a:p>
          <a:p>
            <a:r>
              <a:rPr lang="nl-NL" sz="2000" err="1"/>
              <a:t>Now</a:t>
            </a:r>
            <a:r>
              <a:rPr lang="nl-NL" sz="2000"/>
              <a:t> move </a:t>
            </a:r>
            <a:r>
              <a:rPr lang="nl-NL" sz="2000" err="1"/>
              <a:t>the</a:t>
            </a:r>
            <a:r>
              <a:rPr lang="nl-NL" sz="2000"/>
              <a:t> source far </a:t>
            </a:r>
            <a:r>
              <a:rPr lang="nl-NL" sz="2000" err="1"/>
              <a:t>away</a:t>
            </a:r>
            <a:r>
              <a:rPr lang="nl-NL" sz="2000"/>
              <a:t> (</a:t>
            </a:r>
            <a:r>
              <a:rPr lang="nl-NL" sz="2000" err="1"/>
              <a:t>approximately</a:t>
            </a:r>
            <a:r>
              <a:rPr lang="nl-NL" sz="2000"/>
              <a:t> 5 m) </a:t>
            </a:r>
            <a:r>
              <a:rPr lang="nl-NL" sz="2000" err="1"/>
              <a:t>and</a:t>
            </a:r>
            <a:r>
              <a:rPr lang="nl-NL" sz="2000"/>
              <a:t> re-</a:t>
            </a:r>
            <a:r>
              <a:rPr lang="nl-NL" sz="2000" err="1"/>
              <a:t>calibrate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antenna</a:t>
            </a:r>
            <a:r>
              <a:rPr lang="nl-NL" sz="2000"/>
              <a:t>. </a:t>
            </a:r>
          </a:p>
          <a:p>
            <a:r>
              <a:rPr lang="nl-NL" sz="2000" err="1"/>
              <a:t>Perform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same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 </a:t>
            </a:r>
            <a:r>
              <a:rPr lang="nl-NL" sz="2000" err="1"/>
              <a:t>using</a:t>
            </a:r>
            <a:r>
              <a:rPr lang="nl-NL" sz="2000"/>
              <a:t> "</a:t>
            </a:r>
            <a:r>
              <a:rPr lang="nl-NL" sz="2000" err="1"/>
              <a:t>Pattern_Tapering_Lab.mlx</a:t>
            </a:r>
            <a:r>
              <a:rPr lang="nl-NL" sz="2000"/>
              <a:t>". </a:t>
            </a:r>
            <a:r>
              <a:rPr lang="nl-NL" sz="2000" err="1"/>
              <a:t>Compare</a:t>
            </a:r>
            <a:r>
              <a:rPr lang="nl-NL" sz="2000"/>
              <a:t> </a:t>
            </a:r>
            <a:r>
              <a:rPr lang="nl-NL" sz="2000" err="1"/>
              <a:t>with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close-range </a:t>
            </a:r>
            <a:r>
              <a:rPr lang="nl-NL" sz="2000" err="1"/>
              <a:t>result</a:t>
            </a:r>
            <a:r>
              <a:rPr lang="nl-NL" sz="2000"/>
              <a:t>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explain</a:t>
            </a:r>
            <a:r>
              <a:rPr lang="nl-NL" sz="2000"/>
              <a:t> </a:t>
            </a:r>
            <a:r>
              <a:rPr lang="nl-NL" sz="2000" err="1"/>
              <a:t>why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sidelobe</a:t>
            </a:r>
            <a:r>
              <a:rPr lang="nl-NL" sz="2000"/>
              <a:t> levels change </a:t>
            </a:r>
            <a:r>
              <a:rPr lang="nl-NL" sz="2000" err="1"/>
              <a:t>with</a:t>
            </a:r>
            <a:r>
              <a:rPr lang="nl-NL" sz="2000"/>
              <a:t> </a:t>
            </a:r>
            <a:r>
              <a:rPr lang="nl-NL" sz="2000" err="1"/>
              <a:t>calibration</a:t>
            </a:r>
            <a:r>
              <a:rPr lang="nl-NL" sz="2000"/>
              <a:t> </a:t>
            </a:r>
            <a:r>
              <a:rPr lang="nl-NL" sz="2000" err="1"/>
              <a:t>distance</a:t>
            </a:r>
            <a:r>
              <a:rPr lang="nl-NL" sz="2000"/>
              <a:t>. </a:t>
            </a:r>
            <a:endParaRPr lang="nl-NL"/>
          </a:p>
          <a:p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398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EF64E1-EADC-0801-A1D6-A118E7CC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15"/>
            <a:ext cx="10515600" cy="823145"/>
          </a:xfrm>
        </p:spPr>
        <p:txBody>
          <a:bodyPr>
            <a:normAutofit/>
          </a:bodyPr>
          <a:lstStyle/>
          <a:p>
            <a:r>
              <a:rPr lang="nl-NL" err="1"/>
              <a:t>Calibration</a:t>
            </a:r>
            <a:r>
              <a:rPr lang="nl-NL"/>
              <a:t> </a:t>
            </a:r>
            <a:r>
              <a:rPr lang="nl-NL" err="1"/>
              <a:t>accuracy</a:t>
            </a:r>
            <a:r>
              <a:rPr lang="nl-NL"/>
              <a:t> 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pic>
        <p:nvPicPr>
          <p:cNvPr id="4" name="Tijdelijke aanduiding voor inhoud 3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F3AE3BB9-B6F8-1C9D-3D4A-2B96F865B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4253" y="2302629"/>
            <a:ext cx="3887166" cy="2501351"/>
          </a:xfrm>
          <a:prstGeom prst="rect">
            <a:avLst/>
          </a:prstGeom>
        </p:spPr>
      </p:pic>
      <p:pic>
        <p:nvPicPr>
          <p:cNvPr id="5" name="Afbeelding 4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5655B610-6F84-7344-2641-CA381AC33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567" y="1217"/>
            <a:ext cx="4083091" cy="2726803"/>
          </a:xfrm>
          <a:prstGeom prst="rect">
            <a:avLst/>
          </a:prstGeom>
        </p:spPr>
      </p:pic>
      <p:pic>
        <p:nvPicPr>
          <p:cNvPr id="6" name="Afbeelding 5" descr="Afbeelding met tekst, schermopname, diagram, Lettertype&#10;&#10;Door AI gegenereerde inhoud is mogelijk onjuist.">
            <a:extLst>
              <a:ext uri="{FF2B5EF4-FFF2-40B4-BE49-F238E27FC236}">
                <a16:creationId xmlns:a16="http://schemas.microsoft.com/office/drawing/2014/main" id="{664B62F8-E4F7-7ECA-A24F-17BEA126F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701" y="4180390"/>
            <a:ext cx="4093098" cy="2716072"/>
          </a:xfrm>
          <a:prstGeom prst="rect">
            <a:avLst/>
          </a:prstGeom>
        </p:spPr>
      </p:pic>
      <p:pic>
        <p:nvPicPr>
          <p:cNvPr id="7" name="Afbeelding 6" descr="Afbeelding met tekst, Perceel, diagram, lijn&#10;&#10;Door AI gegenereerde inhoud is mogelijk onjuist.">
            <a:extLst>
              <a:ext uri="{FF2B5EF4-FFF2-40B4-BE49-F238E27FC236}">
                <a16:creationId xmlns:a16="http://schemas.microsoft.com/office/drawing/2014/main" id="{B00D1623-E365-1D0E-CB3E-BD30CF073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85" y="946712"/>
            <a:ext cx="3610578" cy="2312285"/>
          </a:xfrm>
          <a:prstGeom prst="rect">
            <a:avLst/>
          </a:prstGeom>
        </p:spPr>
      </p:pic>
      <p:pic>
        <p:nvPicPr>
          <p:cNvPr id="8" name="Afbeelding 7" descr="Afbeelding met tekst, diagram, Perceel, lijn&#10;&#10;Door AI gegenereerde inhoud is mogelijk onjuist.">
            <a:extLst>
              <a:ext uri="{FF2B5EF4-FFF2-40B4-BE49-F238E27FC236}">
                <a16:creationId xmlns:a16="http://schemas.microsoft.com/office/drawing/2014/main" id="{212C4960-0DC2-DFE9-3986-ECDCB543D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56" y="4542097"/>
            <a:ext cx="3535826" cy="2312406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6A9B04F2-E85C-E4E2-ED2D-B394EAB04B9B}"/>
              </a:ext>
            </a:extLst>
          </p:cNvPr>
          <p:cNvSpPr txBox="1"/>
          <p:nvPr/>
        </p:nvSpPr>
        <p:spPr>
          <a:xfrm>
            <a:off x="385822" y="3356658"/>
            <a:ext cx="3202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Calibration</a:t>
            </a:r>
            <a:r>
              <a:rPr lang="nl-NL"/>
              <a:t> </a:t>
            </a:r>
            <a:r>
              <a:rPr lang="nl-NL" err="1"/>
              <a:t>ampl+phase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697A5BD-EB73-70B1-FC93-D204DC9BC518}"/>
              </a:ext>
            </a:extLst>
          </p:cNvPr>
          <p:cNvSpPr txBox="1"/>
          <p:nvPr/>
        </p:nvSpPr>
        <p:spPr>
          <a:xfrm>
            <a:off x="385821" y="4060784"/>
            <a:ext cx="3202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Calibration</a:t>
            </a:r>
            <a:r>
              <a:rPr lang="nl-NL"/>
              <a:t> </a:t>
            </a:r>
            <a:r>
              <a:rPr lang="nl-NL" err="1"/>
              <a:t>phase</a:t>
            </a:r>
            <a:r>
              <a:rPr lang="nl-NL"/>
              <a:t> </a:t>
            </a:r>
            <a:r>
              <a:rPr lang="nl-NL" err="1"/>
              <a:t>only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FEA10DA-FE57-07BD-5B56-87ECA8CB2085}"/>
              </a:ext>
            </a:extLst>
          </p:cNvPr>
          <p:cNvSpPr txBox="1"/>
          <p:nvPr/>
        </p:nvSpPr>
        <p:spPr>
          <a:xfrm>
            <a:off x="4141392" y="1838283"/>
            <a:ext cx="3202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Calibration</a:t>
            </a:r>
            <a:r>
              <a:rPr lang="nl-NL"/>
              <a:t> </a:t>
            </a:r>
            <a:r>
              <a:rPr lang="nl-NL" err="1"/>
              <a:t>ampl</a:t>
            </a:r>
            <a:r>
              <a:rPr lang="nl-NL"/>
              <a:t> </a:t>
            </a:r>
            <a:r>
              <a:rPr lang="nl-NL" err="1"/>
              <a:t>only</a:t>
            </a:r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237E878E-DED7-C557-B67B-979AFA7A1778}"/>
              </a:ext>
            </a:extLst>
          </p:cNvPr>
          <p:cNvSpPr txBox="1"/>
          <p:nvPr/>
        </p:nvSpPr>
        <p:spPr>
          <a:xfrm>
            <a:off x="8296105" y="2799854"/>
            <a:ext cx="3202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High SNR cal (close </a:t>
            </a:r>
            <a:r>
              <a:rPr lang="nl-NL" err="1"/>
              <a:t>by</a:t>
            </a:r>
            <a:r>
              <a:rPr lang="nl-NL"/>
              <a:t>)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C6B288A-29F3-DF86-E65B-0FEF139182B7}"/>
              </a:ext>
            </a:extLst>
          </p:cNvPr>
          <p:cNvSpPr txBox="1"/>
          <p:nvPr/>
        </p:nvSpPr>
        <p:spPr>
          <a:xfrm>
            <a:off x="8296104" y="3697925"/>
            <a:ext cx="3202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Low SNR cal (far </a:t>
            </a:r>
            <a:r>
              <a:rPr lang="nl-NL" err="1"/>
              <a:t>away</a:t>
            </a:r>
            <a:r>
              <a:rPr lang="nl-NL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225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F97FC-28A9-9FCA-71F9-F2C7776D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 </a:t>
            </a:r>
            <a:r>
              <a:rPr lang="nl-NL" err="1"/>
              <a:t>Polarization</a:t>
            </a:r>
            <a:r>
              <a:rPr lang="nl-NL"/>
              <a:t>: </a:t>
            </a:r>
            <a:r>
              <a:rPr lang="nl-NL" err="1"/>
              <a:t>Dihedral</a:t>
            </a:r>
            <a:r>
              <a:rPr lang="nl-NL"/>
              <a:t> Corner Reflector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2F06BD-99DF-35A0-CA23-9113324C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47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400"/>
              <a:t>A dihedral corner reflector is a commonly used reference target for polarimetric measurements. Its polarimetric properties change with its orientation angle.</a:t>
            </a:r>
            <a:endParaRPr lang="nl-NL" sz="2400"/>
          </a:p>
          <a:p>
            <a:r>
              <a:rPr lang="nl-NL" sz="2400" err="1"/>
              <a:t>Dertermine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polarization</a:t>
            </a:r>
            <a:r>
              <a:rPr lang="nl-NL" sz="2400"/>
              <a:t> </a:t>
            </a:r>
            <a:r>
              <a:rPr lang="nl-NL" sz="2400" err="1"/>
              <a:t>angle</a:t>
            </a:r>
            <a:r>
              <a:rPr lang="nl-NL" sz="2400"/>
              <a:t> of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vivaldi</a:t>
            </a:r>
            <a:r>
              <a:rPr lang="nl-NL" sz="2400"/>
              <a:t> transmitter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patch element of </a:t>
            </a:r>
            <a:r>
              <a:rPr lang="nl-NL" sz="2400" err="1"/>
              <a:t>the</a:t>
            </a:r>
            <a:r>
              <a:rPr lang="nl-NL" sz="2400"/>
              <a:t> receivers </a:t>
            </a:r>
            <a:r>
              <a:rPr lang="en-US" sz="2400"/>
              <a:t>theoretically. Place the </a:t>
            </a:r>
            <a:r>
              <a:rPr lang="en-US" sz="2400" err="1"/>
              <a:t>vivaldi</a:t>
            </a:r>
            <a:r>
              <a:rPr lang="en-US" sz="2400"/>
              <a:t> transmitter so that its polarization direction matches with the receiver.</a:t>
            </a:r>
          </a:p>
          <a:p>
            <a:r>
              <a:rPr lang="nl-NL" sz="2400"/>
              <a:t>According </a:t>
            </a:r>
            <a:r>
              <a:rPr lang="nl-NL" sz="2400" err="1"/>
              <a:t>to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theoratical</a:t>
            </a:r>
            <a:r>
              <a:rPr lang="nl-NL" sz="2400"/>
              <a:t> scattering matrix of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dihedral</a:t>
            </a:r>
            <a:r>
              <a:rPr lang="nl-NL" sz="2400"/>
              <a:t>, </a:t>
            </a:r>
            <a:r>
              <a:rPr lang="en-US" sz="2400"/>
              <a:t>provide the expected return power for each polarization state on the receiver side, assuming the transmitted wave has the same polarization as the Vivaldi</a:t>
            </a:r>
            <a:r>
              <a:rPr lang="zh-CN" altLang="en-US" sz="2400">
                <a:ea typeface="等线"/>
              </a:rPr>
              <a:t> </a:t>
            </a:r>
            <a:r>
              <a:rPr lang="en-US" altLang="zh-CN" sz="2400">
                <a:ea typeface="等线"/>
              </a:rPr>
              <a:t>transmitter you just placed.</a:t>
            </a:r>
            <a:endParaRPr lang="nl-NL" sz="2400">
              <a:ea typeface="等线"/>
            </a:endParaRPr>
          </a:p>
          <a:p>
            <a:r>
              <a:rPr lang="nl-NL" sz="2400"/>
              <a:t>Do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measurement</a:t>
            </a:r>
            <a:r>
              <a:rPr lang="nl-NL" sz="2400"/>
              <a:t> (</a:t>
            </a:r>
            <a:r>
              <a:rPr lang="nl-NL" sz="2400" err="1"/>
              <a:t>FMCW_Range_Lab</a:t>
            </a:r>
            <a:r>
              <a:rPr lang="nl-NL" sz="2400"/>
              <a:t>) </a:t>
            </a:r>
            <a:r>
              <a:rPr lang="nl-NL" sz="2400" err="1"/>
              <a:t>with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diehdral</a:t>
            </a:r>
            <a:r>
              <a:rPr lang="nl-NL" sz="2400"/>
              <a:t> at different </a:t>
            </a:r>
            <a:r>
              <a:rPr lang="nl-NL" sz="2400" err="1"/>
              <a:t>rotation</a:t>
            </a:r>
            <a:r>
              <a:rPr lang="nl-NL" sz="2400"/>
              <a:t> </a:t>
            </a:r>
            <a:r>
              <a:rPr lang="nl-NL" sz="2400" err="1"/>
              <a:t>angles</a:t>
            </a:r>
            <a:r>
              <a:rPr lang="nl-NL" sz="2400"/>
              <a:t> (0 </a:t>
            </a:r>
            <a:r>
              <a:rPr lang="nl-NL" sz="2400" err="1"/>
              <a:t>deg</a:t>
            </a:r>
            <a:r>
              <a:rPr lang="nl-NL" sz="2400"/>
              <a:t>, 45 </a:t>
            </a:r>
            <a:r>
              <a:rPr lang="nl-NL" sz="2400" err="1"/>
              <a:t>deg</a:t>
            </a:r>
            <a:r>
              <a:rPr lang="nl-NL" sz="2400"/>
              <a:t>, 90 </a:t>
            </a:r>
            <a:r>
              <a:rPr lang="nl-NL" sz="2400" err="1"/>
              <a:t>deg</a:t>
            </a:r>
            <a:r>
              <a:rPr lang="nl-NL" sz="2400"/>
              <a:t>). </a:t>
            </a:r>
            <a:r>
              <a:rPr lang="nl-NL" sz="2400" err="1"/>
              <a:t>Observe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results</a:t>
            </a:r>
            <a:r>
              <a:rPr lang="nl-NL" sz="2400"/>
              <a:t>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explain</a:t>
            </a:r>
            <a:r>
              <a:rPr lang="nl-NL" sz="2400"/>
              <a:t> </a:t>
            </a:r>
            <a:r>
              <a:rPr lang="nl-NL" sz="2400" err="1"/>
              <a:t>using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scattering matrix.</a:t>
            </a:r>
          </a:p>
          <a:p>
            <a:r>
              <a:rPr lang="nl-NL" sz="2400" err="1"/>
              <a:t>Rotate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vivaldi</a:t>
            </a:r>
            <a:r>
              <a:rPr lang="nl-NL" sz="2400"/>
              <a:t> transmitter </a:t>
            </a:r>
            <a:r>
              <a:rPr lang="nl-NL" sz="2400" err="1"/>
              <a:t>by</a:t>
            </a:r>
            <a:r>
              <a:rPr lang="nl-NL" sz="2400"/>
              <a:t> 90 </a:t>
            </a:r>
            <a:r>
              <a:rPr lang="nl-NL" sz="2400" err="1"/>
              <a:t>degrees</a:t>
            </a:r>
            <a:r>
              <a:rPr lang="nl-NL" sz="2400"/>
              <a:t> </a:t>
            </a:r>
            <a:r>
              <a:rPr lang="nl-NL" sz="2400" err="1"/>
              <a:t>around</a:t>
            </a:r>
            <a:r>
              <a:rPr lang="nl-NL" sz="2400"/>
              <a:t> </a:t>
            </a:r>
            <a:r>
              <a:rPr lang="nl-NL" sz="2400" err="1"/>
              <a:t>its</a:t>
            </a:r>
            <a:r>
              <a:rPr lang="nl-NL" sz="2400"/>
              <a:t> transmission </a:t>
            </a:r>
            <a:r>
              <a:rPr lang="nl-NL" sz="2400" err="1"/>
              <a:t>axis</a:t>
            </a:r>
            <a:r>
              <a:rPr lang="nl-NL" sz="2400"/>
              <a:t>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perform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same</a:t>
            </a:r>
            <a:r>
              <a:rPr lang="nl-NL" sz="2400"/>
              <a:t> </a:t>
            </a:r>
            <a:r>
              <a:rPr lang="nl-NL" sz="2400" err="1"/>
              <a:t>measurement</a:t>
            </a:r>
            <a:r>
              <a:rPr lang="nl-NL" sz="2400"/>
              <a:t>. </a:t>
            </a:r>
            <a:r>
              <a:rPr lang="nl-NL" sz="2400" err="1"/>
              <a:t>Observe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results</a:t>
            </a:r>
            <a:r>
              <a:rPr lang="nl-NL" sz="2400"/>
              <a:t>, </a:t>
            </a:r>
            <a:r>
              <a:rPr lang="nl-NL" sz="2400" err="1"/>
              <a:t>compare</a:t>
            </a:r>
            <a:r>
              <a:rPr lang="nl-NL" sz="2400"/>
              <a:t> </a:t>
            </a:r>
            <a:r>
              <a:rPr lang="nl-NL" sz="2400" err="1"/>
              <a:t>with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previsous</a:t>
            </a:r>
            <a:r>
              <a:rPr lang="nl-NL" sz="2400"/>
              <a:t> </a:t>
            </a:r>
            <a:r>
              <a:rPr lang="nl-NL" sz="2400" err="1"/>
              <a:t>measurement</a:t>
            </a:r>
            <a:r>
              <a:rPr lang="nl-NL" sz="2400"/>
              <a:t>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explain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changes in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receive</a:t>
            </a:r>
            <a:r>
              <a:rPr lang="nl-NL" sz="2400"/>
              <a:t> power.</a:t>
            </a:r>
          </a:p>
          <a:p>
            <a:r>
              <a:rPr lang="nl-NL" sz="2400" err="1"/>
              <a:t>Now</a:t>
            </a:r>
            <a:r>
              <a:rPr lang="nl-NL" sz="2400"/>
              <a:t> </a:t>
            </a:r>
            <a:r>
              <a:rPr lang="nl-NL" sz="2400" err="1"/>
              <a:t>rotate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vivaldi</a:t>
            </a:r>
            <a:r>
              <a:rPr lang="nl-NL" sz="2400"/>
              <a:t> transmitter back </a:t>
            </a:r>
            <a:r>
              <a:rPr lang="nl-NL" sz="2400" err="1"/>
              <a:t>to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original</a:t>
            </a:r>
            <a:r>
              <a:rPr lang="nl-NL" sz="2400"/>
              <a:t> </a:t>
            </a:r>
            <a:r>
              <a:rPr lang="nl-NL" sz="2400" err="1"/>
              <a:t>angle</a:t>
            </a:r>
            <a:r>
              <a:rPr lang="nl-NL" sz="2400"/>
              <a:t> (</a:t>
            </a:r>
            <a:r>
              <a:rPr lang="nl-NL" sz="2400" err="1"/>
              <a:t>so</a:t>
            </a:r>
            <a:r>
              <a:rPr lang="nl-NL" sz="2400"/>
              <a:t> </a:t>
            </a:r>
            <a:r>
              <a:rPr lang="nl-NL" sz="2400" err="1"/>
              <a:t>that</a:t>
            </a:r>
            <a:r>
              <a:rPr lang="nl-NL" sz="2400"/>
              <a:t> </a:t>
            </a:r>
            <a:r>
              <a:rPr lang="nl-NL" sz="2400" err="1"/>
              <a:t>its</a:t>
            </a:r>
            <a:r>
              <a:rPr lang="nl-NL" sz="2400"/>
              <a:t> </a:t>
            </a:r>
            <a:r>
              <a:rPr lang="nl-NL" sz="2400" err="1"/>
              <a:t>polarization</a:t>
            </a:r>
            <a:r>
              <a:rPr lang="nl-NL" sz="2400"/>
              <a:t> </a:t>
            </a:r>
            <a:r>
              <a:rPr lang="nl-NL" sz="2400" err="1"/>
              <a:t>angle</a:t>
            </a:r>
            <a:r>
              <a:rPr lang="nl-NL" sz="2400"/>
              <a:t> matches </a:t>
            </a:r>
            <a:r>
              <a:rPr lang="nl-NL" sz="2400" err="1"/>
              <a:t>with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receiver). </a:t>
            </a:r>
            <a:r>
              <a:rPr lang="nl-NL" sz="2400" err="1"/>
              <a:t>Then</a:t>
            </a:r>
            <a:r>
              <a:rPr lang="nl-NL" sz="2400"/>
              <a:t>, </a:t>
            </a:r>
            <a:r>
              <a:rPr lang="nl-NL" sz="2400" err="1"/>
              <a:t>rotate</a:t>
            </a:r>
            <a:r>
              <a:rPr lang="nl-NL" sz="2400"/>
              <a:t> </a:t>
            </a:r>
            <a:r>
              <a:rPr lang="nl-NL" sz="2400" err="1"/>
              <a:t>the</a:t>
            </a:r>
            <a:r>
              <a:rPr lang="nl-NL" sz="2400"/>
              <a:t> receiver </a:t>
            </a:r>
            <a:r>
              <a:rPr lang="en-US" sz="2400"/>
              <a:t>45 degrees around its receiving axis</a:t>
            </a:r>
            <a:r>
              <a:rPr lang="nl-NL" sz="2400"/>
              <a:t>. Do </a:t>
            </a:r>
            <a:r>
              <a:rPr lang="nl-NL" sz="2400" err="1"/>
              <a:t>the</a:t>
            </a:r>
            <a:r>
              <a:rPr lang="nl-NL" sz="2400"/>
              <a:t> </a:t>
            </a:r>
            <a:r>
              <a:rPr lang="nl-NL" sz="2400" err="1"/>
              <a:t>same</a:t>
            </a:r>
            <a:r>
              <a:rPr lang="nl-NL" sz="2400"/>
              <a:t> </a:t>
            </a:r>
            <a:r>
              <a:rPr lang="nl-NL" sz="2400" err="1"/>
              <a:t>measurement</a:t>
            </a:r>
            <a:r>
              <a:rPr lang="nl-NL" sz="2400"/>
              <a:t>, </a:t>
            </a:r>
            <a:r>
              <a:rPr lang="en-US" sz="2400"/>
              <a:t>compare with the previous results </a:t>
            </a:r>
            <a:r>
              <a:rPr lang="nl-NL" sz="2400" err="1"/>
              <a:t>and</a:t>
            </a:r>
            <a:r>
              <a:rPr lang="nl-NL" sz="2400"/>
              <a:t> </a:t>
            </a:r>
            <a:r>
              <a:rPr lang="nl-NL" sz="2400" err="1"/>
              <a:t>explain</a:t>
            </a:r>
            <a:r>
              <a:rPr lang="nl-NL" sz="2400"/>
              <a:t> </a:t>
            </a:r>
            <a:r>
              <a:rPr lang="nl-NL" sz="2400" err="1"/>
              <a:t>what</a:t>
            </a:r>
            <a:r>
              <a:rPr lang="nl-NL" sz="2400"/>
              <a:t> </a:t>
            </a:r>
            <a:r>
              <a:rPr lang="nl-NL" sz="2400" err="1"/>
              <a:t>you</a:t>
            </a:r>
            <a:r>
              <a:rPr lang="nl-NL" sz="2400"/>
              <a:t> </a:t>
            </a:r>
            <a:r>
              <a:rPr lang="nl-NL" sz="2400" err="1"/>
              <a:t>observed</a:t>
            </a:r>
            <a:r>
              <a:rPr lang="nl-NL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55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E12C-0408-5CCF-5AA8-F72D9648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2EA63-27CE-CF0D-1627-3DE82CE0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 </a:t>
            </a:r>
            <a:r>
              <a:rPr lang="nl-NL" err="1"/>
              <a:t>Polarization</a:t>
            </a:r>
            <a:r>
              <a:rPr lang="nl-NL"/>
              <a:t>: </a:t>
            </a:r>
            <a:r>
              <a:rPr lang="nl-NL" err="1"/>
              <a:t>Dihedral</a:t>
            </a:r>
            <a:r>
              <a:rPr lang="nl-NL"/>
              <a:t> Corner Reflector 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pic>
        <p:nvPicPr>
          <p:cNvPr id="6" name="Afbeelding 5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6FB3E63D-913B-AFCB-DB90-C6F9D261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17" y="3777265"/>
            <a:ext cx="4347741" cy="2746938"/>
          </a:xfrm>
          <a:prstGeom prst="rect">
            <a:avLst/>
          </a:prstGeom>
        </p:spPr>
      </p:pic>
      <p:pic>
        <p:nvPicPr>
          <p:cNvPr id="7" name="Afbeelding 6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3E4D0559-4266-97DE-808A-AFAD303D0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541" y="3716980"/>
            <a:ext cx="4348826" cy="2850749"/>
          </a:xfrm>
          <a:prstGeom prst="rect">
            <a:avLst/>
          </a:prstGeom>
        </p:spPr>
      </p:pic>
      <p:pic>
        <p:nvPicPr>
          <p:cNvPr id="8" name="Afbeelding 7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E03EB784-70A6-8EAD-6715-F4B4A9948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363" y="3776894"/>
            <a:ext cx="4348947" cy="2860876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9279BE2-EA6E-A276-3DFC-C198441AA27C}"/>
              </a:ext>
            </a:extLst>
          </p:cNvPr>
          <p:cNvSpPr txBox="1"/>
          <p:nvPr/>
        </p:nvSpPr>
        <p:spPr>
          <a:xfrm>
            <a:off x="347240" y="2990126"/>
            <a:ext cx="3761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Dihedral</a:t>
            </a:r>
            <a:r>
              <a:rPr lang="nl-NL"/>
              <a:t> 0 </a:t>
            </a:r>
            <a:r>
              <a:rPr lang="nl-NL" err="1"/>
              <a:t>deg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DA022F4-ACEB-8DE6-1253-F1F6413F4FE1}"/>
              </a:ext>
            </a:extLst>
          </p:cNvPr>
          <p:cNvSpPr txBox="1"/>
          <p:nvPr/>
        </p:nvSpPr>
        <p:spPr>
          <a:xfrm>
            <a:off x="4514126" y="3067290"/>
            <a:ext cx="3761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Dihedral</a:t>
            </a:r>
            <a:r>
              <a:rPr lang="nl-NL"/>
              <a:t> 45 </a:t>
            </a:r>
            <a:r>
              <a:rPr lang="nl-NL" err="1"/>
              <a:t>deg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B8A1B35-2C63-BFEF-C5EF-111D1FB4AFA9}"/>
              </a:ext>
            </a:extLst>
          </p:cNvPr>
          <p:cNvSpPr txBox="1"/>
          <p:nvPr/>
        </p:nvSpPr>
        <p:spPr>
          <a:xfrm>
            <a:off x="8269697" y="3067289"/>
            <a:ext cx="3761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/>
              <a:t>Dihedral</a:t>
            </a:r>
            <a:r>
              <a:rPr lang="nl-NL"/>
              <a:t> 90 </a:t>
            </a:r>
            <a:r>
              <a:rPr lang="nl-NL" err="1"/>
              <a:t>deg</a:t>
            </a:r>
          </a:p>
        </p:txBody>
      </p:sp>
    </p:spTree>
    <p:extLst>
      <p:ext uri="{BB962C8B-B14F-4D97-AF65-F5344CB8AC3E}">
        <p14:creationId xmlns:p14="http://schemas.microsoft.com/office/powerpoint/2010/main" val="3392340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E41DC-A085-6CD8-BD5C-995D9B44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89" y="284343"/>
            <a:ext cx="10515600" cy="569129"/>
          </a:xfrm>
        </p:spPr>
        <p:txBody>
          <a:bodyPr>
            <a:normAutofit fontScale="90000"/>
          </a:bodyPr>
          <a:lstStyle/>
          <a:p>
            <a:r>
              <a:rPr lang="nl-NL"/>
              <a:t>Fan micro-Doppler </a:t>
            </a:r>
            <a:r>
              <a:rPr lang="nl-NL" err="1"/>
              <a:t>investigation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2BA3C463-AB5D-CD01-A870-E9164F135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137"/>
            <a:ext cx="10515600" cy="5205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>
                <a:ea typeface="+mn-lt"/>
                <a:cs typeface="+mn-lt"/>
              </a:rPr>
              <a:t>In </a:t>
            </a:r>
            <a:r>
              <a:rPr lang="nl-NL" sz="2000" err="1">
                <a:ea typeface="+mn-lt"/>
                <a:cs typeface="+mn-lt"/>
              </a:rPr>
              <a:t>this</a:t>
            </a:r>
            <a:r>
              <a:rPr lang="nl-NL" sz="2000">
                <a:ea typeface="+mn-lt"/>
                <a:cs typeface="+mn-lt"/>
              </a:rPr>
              <a:t> project, </a:t>
            </a:r>
            <a:r>
              <a:rPr lang="nl-NL" sz="2000" err="1">
                <a:ea typeface="+mn-lt"/>
                <a:cs typeface="+mn-lt"/>
              </a:rPr>
              <a:t>you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will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use</a:t>
            </a:r>
            <a:r>
              <a:rPr lang="nl-NL" sz="2000">
                <a:ea typeface="+mn-lt"/>
                <a:cs typeface="+mn-lt"/>
              </a:rPr>
              <a:t> a </a:t>
            </a:r>
            <a:r>
              <a:rPr lang="nl-NL" sz="2000" err="1">
                <a:ea typeface="+mn-lt"/>
                <a:cs typeface="+mn-lt"/>
              </a:rPr>
              <a:t>rotating</a:t>
            </a:r>
            <a:r>
              <a:rPr lang="nl-NL" sz="2000">
                <a:ea typeface="+mn-lt"/>
                <a:cs typeface="+mn-lt"/>
              </a:rPr>
              <a:t> fan as a target </a:t>
            </a:r>
            <a:r>
              <a:rPr lang="nl-NL" sz="2000" err="1">
                <a:ea typeface="+mn-lt"/>
                <a:cs typeface="+mn-lt"/>
              </a:rPr>
              <a:t>to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observe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and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analyze</a:t>
            </a:r>
            <a:r>
              <a:rPr lang="nl-NL" sz="2000">
                <a:ea typeface="+mn-lt"/>
                <a:cs typeface="+mn-lt"/>
              </a:rPr>
              <a:t> micro-doppler </a:t>
            </a:r>
            <a:r>
              <a:rPr lang="nl-NL" sz="2000" err="1">
                <a:ea typeface="+mn-lt"/>
                <a:cs typeface="+mn-lt"/>
              </a:rPr>
              <a:t>signatures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with</a:t>
            </a:r>
            <a:r>
              <a:rPr lang="nl-NL" sz="2000">
                <a:ea typeface="+mn-lt"/>
                <a:cs typeface="+mn-lt"/>
              </a:rPr>
              <a:t> </a:t>
            </a:r>
            <a:r>
              <a:rPr lang="nl-NL" sz="2000" err="1">
                <a:ea typeface="+mn-lt"/>
                <a:cs typeface="+mn-lt"/>
              </a:rPr>
              <a:t>our</a:t>
            </a:r>
            <a:r>
              <a:rPr lang="nl-NL" sz="2000">
                <a:ea typeface="+mn-lt"/>
                <a:cs typeface="+mn-lt"/>
              </a:rPr>
              <a:t> radar system.</a:t>
            </a:r>
            <a:endParaRPr lang="nl-NL" sz="2000"/>
          </a:p>
          <a:p>
            <a:r>
              <a:rPr lang="nl-NL" sz="2000" err="1"/>
              <a:t>Place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fan at a </a:t>
            </a:r>
            <a:r>
              <a:rPr lang="nl-NL" sz="2000" err="1"/>
              <a:t>fixed</a:t>
            </a:r>
            <a:r>
              <a:rPr lang="nl-NL" sz="2000"/>
              <a:t> </a:t>
            </a:r>
            <a:r>
              <a:rPr lang="nl-NL" sz="2000" err="1"/>
              <a:t>distance</a:t>
            </a:r>
            <a:r>
              <a:rPr lang="nl-NL" sz="2000"/>
              <a:t> </a:t>
            </a:r>
            <a:r>
              <a:rPr lang="nl-NL" sz="2000" err="1"/>
              <a:t>from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radar, make </a:t>
            </a:r>
            <a:r>
              <a:rPr lang="nl-NL" sz="2000" err="1"/>
              <a:t>sure</a:t>
            </a:r>
            <a:r>
              <a:rPr lang="nl-NL" sz="2000"/>
              <a:t> </a:t>
            </a:r>
            <a:r>
              <a:rPr lang="nl-NL" sz="2000" err="1"/>
              <a:t>all</a:t>
            </a:r>
            <a:r>
              <a:rPr lang="nl-NL" sz="2000"/>
              <a:t> </a:t>
            </a:r>
            <a:r>
              <a:rPr lang="nl-NL" sz="2000" err="1"/>
              <a:t>four</a:t>
            </a:r>
            <a:r>
              <a:rPr lang="nl-NL" sz="2000"/>
              <a:t> </a:t>
            </a:r>
            <a:r>
              <a:rPr lang="nl-NL" sz="2000" err="1"/>
              <a:t>blades</a:t>
            </a:r>
            <a:r>
              <a:rPr lang="nl-NL" sz="2000"/>
              <a:t> are </a:t>
            </a:r>
            <a:r>
              <a:rPr lang="nl-NL" sz="2000" err="1"/>
              <a:t>visible</a:t>
            </a:r>
            <a:r>
              <a:rPr lang="nl-NL" sz="2000"/>
              <a:t>. In "</a:t>
            </a:r>
            <a:r>
              <a:rPr lang="nl-NL" sz="2000" err="1">
                <a:ea typeface="+mn-lt"/>
                <a:cs typeface="+mn-lt"/>
              </a:rPr>
              <a:t>FMCW_Range_Doppler_Lab</a:t>
            </a:r>
            <a:r>
              <a:rPr lang="nl-NL" sz="2000"/>
              <a:t>", set PRF </a:t>
            </a:r>
            <a:r>
              <a:rPr lang="nl-NL" sz="2000" err="1"/>
              <a:t>to</a:t>
            </a:r>
            <a:r>
              <a:rPr lang="nl-NL" sz="2000"/>
              <a:t> 2000 Hz 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pulse</a:t>
            </a:r>
            <a:r>
              <a:rPr lang="nl-NL" sz="2000"/>
              <a:t> </a:t>
            </a:r>
            <a:r>
              <a:rPr lang="nl-NL" sz="2000" err="1"/>
              <a:t>number</a:t>
            </a:r>
            <a:r>
              <a:rPr lang="nl-NL" sz="2000"/>
              <a:t> </a:t>
            </a:r>
            <a:r>
              <a:rPr lang="nl-NL" sz="2000" err="1"/>
              <a:t>to</a:t>
            </a:r>
            <a:r>
              <a:rPr lang="nl-NL" sz="2000"/>
              <a:t> 128. Open </a:t>
            </a:r>
            <a:r>
              <a:rPr lang="nl-NL" sz="2000" err="1"/>
              <a:t>the</a:t>
            </a:r>
            <a:r>
              <a:rPr lang="nl-NL" sz="2000"/>
              <a:t> fan </a:t>
            </a:r>
            <a:r>
              <a:rPr lang="nl-NL" sz="2000" err="1"/>
              <a:t>and</a:t>
            </a:r>
            <a:r>
              <a:rPr lang="nl-NL" sz="2000"/>
              <a:t> do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 (</a:t>
            </a:r>
            <a:r>
              <a:rPr lang="nl-NL" sz="2000" err="1"/>
              <a:t>one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 </a:t>
            </a:r>
            <a:r>
              <a:rPr lang="nl-NL" sz="2000" err="1"/>
              <a:t>with</a:t>
            </a:r>
            <a:r>
              <a:rPr lang="nl-NL" sz="2000"/>
              <a:t> low </a:t>
            </a:r>
            <a:r>
              <a:rPr lang="nl-NL" sz="2000" err="1"/>
              <a:t>rotation</a:t>
            </a:r>
            <a:r>
              <a:rPr lang="nl-NL" sz="2000"/>
              <a:t> speed, </a:t>
            </a:r>
            <a:r>
              <a:rPr lang="nl-NL" sz="2000" err="1"/>
              <a:t>one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 </a:t>
            </a:r>
            <a:r>
              <a:rPr lang="nl-NL" sz="2000" err="1"/>
              <a:t>with</a:t>
            </a:r>
            <a:r>
              <a:rPr lang="nl-NL" sz="2000"/>
              <a:t> high </a:t>
            </a:r>
            <a:r>
              <a:rPr lang="nl-NL" sz="2000" err="1"/>
              <a:t>rotation</a:t>
            </a:r>
            <a:r>
              <a:rPr lang="nl-NL" sz="2000"/>
              <a:t> speed).</a:t>
            </a:r>
          </a:p>
          <a:p>
            <a:r>
              <a:rPr lang="nl-NL" sz="2000" err="1"/>
              <a:t>Repeat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measurement</a:t>
            </a:r>
            <a:r>
              <a:rPr lang="nl-NL" sz="2000"/>
              <a:t> </a:t>
            </a:r>
            <a:r>
              <a:rPr lang="nl-NL" sz="2000" err="1"/>
              <a:t>with</a:t>
            </a:r>
            <a:r>
              <a:rPr lang="nl-NL" sz="2000"/>
              <a:t> 3 </a:t>
            </a:r>
            <a:r>
              <a:rPr lang="nl-NL" sz="2000" err="1"/>
              <a:t>blades</a:t>
            </a:r>
            <a:r>
              <a:rPr lang="nl-NL" sz="2000"/>
              <a:t>, 2 </a:t>
            </a:r>
            <a:r>
              <a:rPr lang="nl-NL" sz="2000" err="1"/>
              <a:t>blades</a:t>
            </a:r>
            <a:r>
              <a:rPr lang="nl-NL" sz="2000"/>
              <a:t>, 1 </a:t>
            </a:r>
            <a:r>
              <a:rPr lang="nl-NL" sz="2000" err="1"/>
              <a:t>blades</a:t>
            </a:r>
            <a:r>
              <a:rPr lang="nl-NL" sz="2000"/>
              <a:t>.</a:t>
            </a:r>
          </a:p>
          <a:p>
            <a:r>
              <a:rPr lang="nl-NL" sz="2000" err="1"/>
              <a:t>Now</a:t>
            </a:r>
            <a:r>
              <a:rPr lang="nl-NL" sz="2000"/>
              <a:t> </a:t>
            </a:r>
            <a:r>
              <a:rPr lang="nl-NL" sz="2000" err="1"/>
              <a:t>try</a:t>
            </a:r>
            <a:r>
              <a:rPr lang="nl-NL" sz="2000"/>
              <a:t> </a:t>
            </a:r>
            <a:r>
              <a:rPr lang="nl-NL" sz="2000" err="1"/>
              <a:t>to</a:t>
            </a:r>
            <a:r>
              <a:rPr lang="nl-NL" sz="2000"/>
              <a:t> </a:t>
            </a:r>
            <a:r>
              <a:rPr lang="nl-NL" sz="2000" err="1"/>
              <a:t>explain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relation</a:t>
            </a:r>
            <a:r>
              <a:rPr lang="nl-NL" sz="2000"/>
              <a:t> </a:t>
            </a:r>
            <a:r>
              <a:rPr lang="nl-NL" sz="2000" err="1"/>
              <a:t>between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spacing</a:t>
            </a:r>
            <a:r>
              <a:rPr lang="nl-NL" sz="2000"/>
              <a:t> of these </a:t>
            </a:r>
            <a:r>
              <a:rPr lang="nl-NL" sz="2000" err="1"/>
              <a:t>bright</a:t>
            </a:r>
            <a:r>
              <a:rPr lang="nl-NL" sz="2000"/>
              <a:t> spots </a:t>
            </a:r>
            <a:r>
              <a:rPr lang="nl-NL" sz="2000" err="1"/>
              <a:t>and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rotation</a:t>
            </a:r>
            <a:r>
              <a:rPr lang="nl-NL" sz="2000"/>
              <a:t> speed of </a:t>
            </a:r>
            <a:r>
              <a:rPr lang="nl-NL" sz="2000" err="1"/>
              <a:t>the</a:t>
            </a:r>
            <a:r>
              <a:rPr lang="nl-NL" sz="2000"/>
              <a:t> fan. </a:t>
            </a:r>
          </a:p>
          <a:p>
            <a:r>
              <a:rPr lang="nl-NL" sz="2000" err="1"/>
              <a:t>Try</a:t>
            </a:r>
            <a:r>
              <a:rPr lang="nl-NL" sz="2000"/>
              <a:t> </a:t>
            </a:r>
            <a:r>
              <a:rPr lang="nl-NL" sz="2000" err="1"/>
              <a:t>to</a:t>
            </a:r>
            <a:r>
              <a:rPr lang="nl-NL" sz="2000"/>
              <a:t> </a:t>
            </a:r>
            <a:r>
              <a:rPr lang="nl-NL" sz="2000" err="1"/>
              <a:t>explain</a:t>
            </a:r>
            <a:r>
              <a:rPr lang="nl-NL" sz="2000"/>
              <a:t> </a:t>
            </a:r>
            <a:r>
              <a:rPr lang="nl-NL" sz="2000" err="1"/>
              <a:t>what</a:t>
            </a:r>
            <a:r>
              <a:rPr lang="nl-NL" sz="2000"/>
              <a:t> </a:t>
            </a:r>
            <a:r>
              <a:rPr lang="nl-NL" sz="2000" err="1"/>
              <a:t>happened</a:t>
            </a:r>
            <a:r>
              <a:rPr lang="nl-NL" sz="2000"/>
              <a:t> </a:t>
            </a:r>
            <a:r>
              <a:rPr lang="nl-NL" sz="2000" err="1"/>
              <a:t>after</a:t>
            </a:r>
            <a:r>
              <a:rPr lang="nl-NL" sz="2000"/>
              <a:t> </a:t>
            </a:r>
            <a:r>
              <a:rPr lang="nl-NL" sz="2000" err="1"/>
              <a:t>changing</a:t>
            </a:r>
            <a:r>
              <a:rPr lang="nl-NL" sz="2000"/>
              <a:t> </a:t>
            </a:r>
            <a:r>
              <a:rPr lang="nl-NL" sz="2000" err="1"/>
              <a:t>the</a:t>
            </a:r>
            <a:r>
              <a:rPr lang="nl-NL" sz="2000"/>
              <a:t> </a:t>
            </a:r>
            <a:r>
              <a:rPr lang="nl-NL" sz="2000" err="1"/>
              <a:t>number</a:t>
            </a:r>
            <a:r>
              <a:rPr lang="nl-NL" sz="2000"/>
              <a:t> of </a:t>
            </a:r>
            <a:r>
              <a:rPr lang="nl-NL" sz="2000" err="1"/>
              <a:t>blades</a:t>
            </a:r>
            <a:r>
              <a:rPr lang="nl-NL" sz="2000"/>
              <a:t>.</a:t>
            </a:r>
            <a:endParaRPr lang="nl-NL"/>
          </a:p>
          <a:p>
            <a:r>
              <a:rPr lang="nl-NL" sz="2000" err="1"/>
              <a:t>Explain</a:t>
            </a:r>
            <a:r>
              <a:rPr lang="nl-NL" sz="2000"/>
              <a:t> </a:t>
            </a:r>
            <a:r>
              <a:rPr lang="nl-NL" sz="2000" err="1"/>
              <a:t>why</a:t>
            </a:r>
            <a:r>
              <a:rPr lang="nl-NL" sz="2000"/>
              <a:t> do </a:t>
            </a:r>
            <a:r>
              <a:rPr lang="nl-NL" sz="2000" err="1"/>
              <a:t>you</a:t>
            </a:r>
            <a:r>
              <a:rPr lang="nl-NL" sz="2000"/>
              <a:t> </a:t>
            </a:r>
            <a:r>
              <a:rPr lang="nl-NL" sz="2000" err="1"/>
              <a:t>observe</a:t>
            </a:r>
            <a:r>
              <a:rPr lang="nl-NL" sz="2000"/>
              <a:t> </a:t>
            </a:r>
            <a:r>
              <a:rPr lang="nl-NL" sz="2000" err="1"/>
              <a:t>so</a:t>
            </a:r>
            <a:r>
              <a:rPr lang="nl-NL" sz="2000"/>
              <a:t> </a:t>
            </a:r>
            <a:r>
              <a:rPr lang="nl-NL" sz="2000" err="1"/>
              <a:t>many</a:t>
            </a:r>
            <a:r>
              <a:rPr lang="nl-NL" sz="2000"/>
              <a:t> </a:t>
            </a:r>
            <a:r>
              <a:rPr lang="nl-NL" sz="2000" err="1"/>
              <a:t>bright</a:t>
            </a:r>
            <a:r>
              <a:rPr lang="nl-NL" sz="2000"/>
              <a:t> spots at different doppler </a:t>
            </a:r>
            <a:r>
              <a:rPr lang="nl-NL" sz="2000" err="1"/>
              <a:t>velocity</a:t>
            </a:r>
            <a:r>
              <a:rPr lang="nl-NL" sz="2000"/>
              <a:t>.</a:t>
            </a:r>
          </a:p>
          <a:p>
            <a:endParaRPr lang="nl-NL" sz="2000"/>
          </a:p>
        </p:txBody>
      </p:sp>
    </p:spTree>
    <p:extLst>
      <p:ext uri="{BB962C8B-B14F-4D97-AF65-F5344CB8AC3E}">
        <p14:creationId xmlns:p14="http://schemas.microsoft.com/office/powerpoint/2010/main" val="1646484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4E81-88D7-6EB0-99CF-202488F2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767B2-BCBD-B831-D7DA-EB29CE75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85" y="379593"/>
            <a:ext cx="10515600" cy="569129"/>
          </a:xfrm>
        </p:spPr>
        <p:txBody>
          <a:bodyPr>
            <a:normAutofit fontScale="90000"/>
          </a:bodyPr>
          <a:lstStyle/>
          <a:p>
            <a:r>
              <a:rPr lang="nl-NL"/>
              <a:t>Fan micro-Doppler </a:t>
            </a:r>
            <a:r>
              <a:rPr lang="nl-NL" err="1"/>
              <a:t>investigation</a:t>
            </a:r>
            <a:br>
              <a:rPr lang="nl-NL"/>
            </a:br>
            <a:r>
              <a:rPr lang="nl-NL"/>
              <a:t>(</a:t>
            </a:r>
            <a:r>
              <a:rPr lang="nl-NL" err="1"/>
              <a:t>results</a:t>
            </a:r>
            <a:r>
              <a:rPr lang="nl-NL"/>
              <a:t>)</a:t>
            </a:r>
          </a:p>
        </p:txBody>
      </p:sp>
      <p:pic>
        <p:nvPicPr>
          <p:cNvPr id="4" name="Tijdelijke aanduiding voor inhoud 3" descr="Afbeelding met scherm, schermopname, computer, Rechthoek&#10;&#10;Door AI gegenereerde inhoud is mogelijk onjuist.">
            <a:extLst>
              <a:ext uri="{FF2B5EF4-FFF2-40B4-BE49-F238E27FC236}">
                <a16:creationId xmlns:a16="http://schemas.microsoft.com/office/drawing/2014/main" id="{9ACAF3AC-D2BE-9ECE-F08B-B36A0978C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424" y="1788703"/>
            <a:ext cx="4005385" cy="2093614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B1F590FA-5FD1-BA68-A598-DFE635C1E05E}"/>
              </a:ext>
            </a:extLst>
          </p:cNvPr>
          <p:cNvSpPr txBox="1"/>
          <p:nvPr/>
        </p:nvSpPr>
        <p:spPr>
          <a:xfrm>
            <a:off x="859517" y="130175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1 </a:t>
            </a:r>
            <a:r>
              <a:rPr lang="nl-NL" err="1"/>
              <a:t>blade</a:t>
            </a:r>
          </a:p>
        </p:txBody>
      </p:sp>
      <p:pic>
        <p:nvPicPr>
          <p:cNvPr id="7" name="Afbeelding 6" descr="Afbeelding met scherm, schermopname, Kleurrijkheid, Rechthoek&#10;&#10;Door AI gegenereerde inhoud is mogelijk onjuist.">
            <a:extLst>
              <a:ext uri="{FF2B5EF4-FFF2-40B4-BE49-F238E27FC236}">
                <a16:creationId xmlns:a16="http://schemas.microsoft.com/office/drawing/2014/main" id="{43491082-BF03-0F84-777E-F285456D7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89" y="1791790"/>
            <a:ext cx="4005782" cy="208709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72A722E-750C-902F-9034-DA1B1F04BF68}"/>
              </a:ext>
            </a:extLst>
          </p:cNvPr>
          <p:cNvSpPr txBox="1"/>
          <p:nvPr/>
        </p:nvSpPr>
        <p:spPr>
          <a:xfrm>
            <a:off x="5031914" y="130129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2 </a:t>
            </a:r>
            <a:r>
              <a:rPr lang="nl-NL" err="1"/>
              <a:t>blades</a:t>
            </a:r>
          </a:p>
        </p:txBody>
      </p:sp>
      <p:pic>
        <p:nvPicPr>
          <p:cNvPr id="9" name="Afbeelding 8" descr="Afbeelding met scherm, schermopname, tekst, Kleurrijkheid&#10;&#10;Door AI gegenereerde inhoud is mogelijk onjuist.">
            <a:extLst>
              <a:ext uri="{FF2B5EF4-FFF2-40B4-BE49-F238E27FC236}">
                <a16:creationId xmlns:a16="http://schemas.microsoft.com/office/drawing/2014/main" id="{5D01F235-977C-2807-3287-1C3725F9F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14" y="4552042"/>
            <a:ext cx="4082143" cy="2080987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2D814DBB-D65B-E5F0-4FD7-CCA2786E9140}"/>
              </a:ext>
            </a:extLst>
          </p:cNvPr>
          <p:cNvSpPr txBox="1"/>
          <p:nvPr/>
        </p:nvSpPr>
        <p:spPr>
          <a:xfrm>
            <a:off x="797824" y="410436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3 </a:t>
            </a:r>
            <a:r>
              <a:rPr lang="nl-NL" err="1"/>
              <a:t>blades</a:t>
            </a:r>
            <a:endParaRPr lang="nl-NL"/>
          </a:p>
        </p:txBody>
      </p:sp>
      <p:pic>
        <p:nvPicPr>
          <p:cNvPr id="11" name="Afbeelding 10" descr="Afbeelding met scherm, schermopname, Kleurrijkheid, Rechthoek&#10;&#10;Door AI gegenereerde inhoud is mogelijk onjuist.">
            <a:extLst>
              <a:ext uri="{FF2B5EF4-FFF2-40B4-BE49-F238E27FC236}">
                <a16:creationId xmlns:a16="http://schemas.microsoft.com/office/drawing/2014/main" id="{B6283DF1-B8D9-305B-DEA8-93C83F043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571" y="4549775"/>
            <a:ext cx="4082143" cy="208552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6760964-1EAD-A0BD-FD27-268CCD809DAF}"/>
              </a:ext>
            </a:extLst>
          </p:cNvPr>
          <p:cNvSpPr txBox="1"/>
          <p:nvPr/>
        </p:nvSpPr>
        <p:spPr>
          <a:xfrm>
            <a:off x="4970681" y="410436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4 </a:t>
            </a:r>
            <a:r>
              <a:rPr lang="nl-NL" err="1"/>
              <a:t>blades</a:t>
            </a:r>
            <a:endParaRPr lang="nl-NL"/>
          </a:p>
        </p:txBody>
      </p:sp>
      <p:pic>
        <p:nvPicPr>
          <p:cNvPr id="13" name="Afbeelding 12" descr="Afbeelding met schermopname, Kleurrijkheid, patroon, blauw&#10;&#10;Door AI gegenereerde inhoud is mogelijk onjuist.">
            <a:extLst>
              <a:ext uri="{FF2B5EF4-FFF2-40B4-BE49-F238E27FC236}">
                <a16:creationId xmlns:a16="http://schemas.microsoft.com/office/drawing/2014/main" id="{69717DBB-3178-54F4-16ED-03EE19749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428" y="2359251"/>
            <a:ext cx="3247572" cy="2466068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985480B3-D3F4-0B25-63FC-3F19CDE89F72}"/>
              </a:ext>
            </a:extLst>
          </p:cNvPr>
          <p:cNvSpPr txBox="1"/>
          <p:nvPr/>
        </p:nvSpPr>
        <p:spPr>
          <a:xfrm>
            <a:off x="2741377" y="863593"/>
            <a:ext cx="55281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Fan </a:t>
            </a:r>
            <a:r>
              <a:rPr lang="nl-NL" err="1"/>
              <a:t>rotates</a:t>
            </a:r>
            <a:r>
              <a:rPr lang="nl-NL"/>
              <a:t> at </a:t>
            </a:r>
            <a:r>
              <a:rPr lang="nl-NL" err="1"/>
              <a:t>approximately</a:t>
            </a:r>
            <a:r>
              <a:rPr lang="nl-NL"/>
              <a:t> 16 Hz, </a:t>
            </a:r>
            <a:r>
              <a:rPr lang="nl-NL" err="1"/>
              <a:t>with</a:t>
            </a:r>
            <a:r>
              <a:rPr lang="nl-NL"/>
              <a:t> radius 4.5 cm</a:t>
            </a:r>
          </a:p>
        </p:txBody>
      </p:sp>
      <p:sp>
        <p:nvSpPr>
          <p:cNvPr id="3" name="Tekstvak 11">
            <a:extLst>
              <a:ext uri="{FF2B5EF4-FFF2-40B4-BE49-F238E27FC236}">
                <a16:creationId xmlns:a16="http://schemas.microsoft.com/office/drawing/2014/main" id="{10A675FC-B100-6976-4071-28673B04386D}"/>
              </a:ext>
            </a:extLst>
          </p:cNvPr>
          <p:cNvSpPr txBox="1"/>
          <p:nvPr/>
        </p:nvSpPr>
        <p:spPr>
          <a:xfrm>
            <a:off x="9889662" y="198845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Time-Doppler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8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3F19-84AC-5A0E-D0EB-AB10D32E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4F612-B594-A313-7A2D-92DF1B2E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5"/>
            <a:ext cx="10515600" cy="689318"/>
          </a:xfrm>
        </p:spPr>
        <p:txBody>
          <a:bodyPr>
            <a:normAutofit fontScale="90000"/>
          </a:bodyPr>
          <a:lstStyle/>
          <a:p>
            <a:r>
              <a:rPr lang="nl-NL" err="1"/>
              <a:t>DoA</a:t>
            </a:r>
            <a:r>
              <a:rPr lang="nl-NL"/>
              <a:t> performance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D7D146-1E44-E401-2D0E-537BC52F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10515600" cy="5438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/>
              <a:t>Place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 </a:t>
            </a:r>
            <a:r>
              <a:rPr lang="nl-NL" sz="2000"/>
              <a:t>Tx at relatively short distance (e.g. 1 meter) at an</a:t>
            </a:r>
            <a:r>
              <a:rPr lang="nl-NL" sz="2000" dirty="0"/>
              <a:t> </a:t>
            </a:r>
            <a:r>
              <a:rPr lang="nl-NL" sz="2000"/>
              <a:t>angle (e.g. around 45 deg.) in azimuth (zero elevation).</a:t>
            </a:r>
            <a:endParaRPr lang="en-US"/>
          </a:p>
          <a:p>
            <a:r>
              <a:rPr lang="nl-NL" sz="2000"/>
              <a:t>Apply</a:t>
            </a:r>
            <a:r>
              <a:rPr lang="nl-NL" sz="2000" dirty="0"/>
              <a:t> </a:t>
            </a:r>
            <a:r>
              <a:rPr lang="nl-NL" sz="2000"/>
              <a:t>beam steering on Rx</a:t>
            </a:r>
            <a:r>
              <a:rPr lang="nl-NL" sz="2000" dirty="0"/>
              <a:t> </a:t>
            </a:r>
            <a:r>
              <a:rPr lang="nl-NL" sz="2000"/>
              <a:t>to</a:t>
            </a:r>
            <a:r>
              <a:rPr lang="nl-NL" sz="2000" dirty="0"/>
              <a:t> </a:t>
            </a:r>
            <a:r>
              <a:rPr lang="nl-NL" sz="2000"/>
              <a:t>identify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 </a:t>
            </a:r>
            <a:r>
              <a:rPr lang="nl-NL" sz="2000"/>
              <a:t>direction of arrival (DoA).</a:t>
            </a:r>
          </a:p>
          <a:p>
            <a:r>
              <a:rPr lang="nl-NL" sz="2000"/>
              <a:t>At similar</a:t>
            </a:r>
            <a:r>
              <a:rPr lang="nl-NL" sz="2000" dirty="0"/>
              <a:t> </a:t>
            </a:r>
            <a:r>
              <a:rPr lang="nl-NL" sz="2000"/>
              <a:t>distance, move the</a:t>
            </a:r>
            <a:r>
              <a:rPr lang="nl-NL" sz="2000" dirty="0"/>
              <a:t> </a:t>
            </a:r>
            <a:r>
              <a:rPr lang="nl-NL" sz="2000"/>
              <a:t>Tx</a:t>
            </a:r>
            <a:r>
              <a:rPr lang="nl-NL" sz="2000" dirty="0"/>
              <a:t> </a:t>
            </a:r>
            <a:r>
              <a:rPr lang="nl-NL" sz="2000"/>
              <a:t>to</a:t>
            </a:r>
            <a:r>
              <a:rPr lang="nl-NL" sz="2000" dirty="0"/>
              <a:t> </a:t>
            </a:r>
            <a:r>
              <a:rPr lang="nl-NL" sz="2000"/>
              <a:t>wider</a:t>
            </a:r>
            <a:r>
              <a:rPr lang="nl-NL" sz="2000" dirty="0"/>
              <a:t> </a:t>
            </a:r>
            <a:r>
              <a:rPr lang="nl-NL" sz="2000"/>
              <a:t>azimuth</a:t>
            </a:r>
            <a:r>
              <a:rPr lang="nl-NL" sz="2000" dirty="0"/>
              <a:t> </a:t>
            </a:r>
            <a:r>
              <a:rPr lang="nl-NL" sz="2000"/>
              <a:t>angles. Apply</a:t>
            </a:r>
            <a:r>
              <a:rPr lang="nl-NL" sz="2000" dirty="0"/>
              <a:t> </a:t>
            </a:r>
            <a:r>
              <a:rPr lang="nl-NL" sz="2000"/>
              <a:t>beam steering to</a:t>
            </a:r>
            <a:r>
              <a:rPr lang="nl-NL" sz="2000" dirty="0"/>
              <a:t> </a:t>
            </a:r>
            <a:r>
              <a:rPr lang="nl-NL" sz="2000"/>
              <a:t>find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 </a:t>
            </a:r>
            <a:r>
              <a:rPr lang="nl-NL" sz="2000"/>
              <a:t>DoA, see</a:t>
            </a:r>
            <a:r>
              <a:rPr lang="nl-NL" sz="2000" dirty="0"/>
              <a:t> </a:t>
            </a:r>
            <a:r>
              <a:rPr lang="nl-NL" sz="2000"/>
              <a:t>and</a:t>
            </a:r>
            <a:r>
              <a:rPr lang="nl-NL" sz="2000" dirty="0"/>
              <a:t> </a:t>
            </a:r>
            <a:r>
              <a:rPr lang="nl-NL" sz="2000"/>
              <a:t>explain</a:t>
            </a:r>
            <a:r>
              <a:rPr lang="nl-NL" sz="2000" dirty="0"/>
              <a:t> </a:t>
            </a:r>
            <a:r>
              <a:rPr lang="nl-NL" sz="2000"/>
              <a:t>the change in performance.</a:t>
            </a:r>
          </a:p>
          <a:p>
            <a:r>
              <a:rPr lang="nl-NL" sz="2000"/>
              <a:t>At 1m distance</a:t>
            </a:r>
            <a:r>
              <a:rPr lang="nl-NL" sz="2000" dirty="0"/>
              <a:t> </a:t>
            </a:r>
            <a:r>
              <a:rPr lang="nl-NL" sz="2000"/>
              <a:t>and 45 deg. azimuth</a:t>
            </a:r>
            <a:r>
              <a:rPr lang="nl-NL" sz="2000" dirty="0"/>
              <a:t> </a:t>
            </a:r>
            <a:r>
              <a:rPr lang="nl-NL" sz="2000"/>
              <a:t>angle, move the</a:t>
            </a:r>
            <a:r>
              <a:rPr lang="nl-NL" sz="2000" dirty="0"/>
              <a:t> </a:t>
            </a:r>
            <a:r>
              <a:rPr lang="nl-NL" sz="2000"/>
              <a:t>Tx</a:t>
            </a:r>
            <a:r>
              <a:rPr lang="nl-NL" sz="2000" dirty="0"/>
              <a:t> </a:t>
            </a:r>
            <a:r>
              <a:rPr lang="nl-NL" sz="2000"/>
              <a:t>to</a:t>
            </a:r>
            <a:r>
              <a:rPr lang="nl-NL" sz="2000" dirty="0"/>
              <a:t> </a:t>
            </a:r>
            <a:r>
              <a:rPr lang="nl-NL" sz="2000"/>
              <a:t>wider</a:t>
            </a:r>
            <a:r>
              <a:rPr lang="nl-NL" sz="2000" dirty="0"/>
              <a:t> </a:t>
            </a:r>
            <a:r>
              <a:rPr lang="nl-NL" sz="2000"/>
              <a:t>elevation</a:t>
            </a:r>
            <a:r>
              <a:rPr lang="nl-NL" sz="2000" dirty="0"/>
              <a:t> </a:t>
            </a:r>
            <a:r>
              <a:rPr lang="nl-NL" sz="2000"/>
              <a:t>angles. Apply</a:t>
            </a:r>
            <a:r>
              <a:rPr lang="nl-NL" sz="2000" dirty="0"/>
              <a:t> </a:t>
            </a:r>
            <a:r>
              <a:rPr lang="nl-NL" sz="2000"/>
              <a:t>beam steering to</a:t>
            </a:r>
            <a:r>
              <a:rPr lang="nl-NL" sz="2000" dirty="0"/>
              <a:t> </a:t>
            </a:r>
            <a:r>
              <a:rPr lang="nl-NL" sz="2000"/>
              <a:t>find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 </a:t>
            </a:r>
            <a:r>
              <a:rPr lang="nl-NL" sz="2000"/>
              <a:t>DoA, see</a:t>
            </a:r>
            <a:r>
              <a:rPr lang="nl-NL" sz="2000" dirty="0"/>
              <a:t> </a:t>
            </a:r>
            <a:r>
              <a:rPr lang="nl-NL" sz="2000"/>
              <a:t>and</a:t>
            </a:r>
            <a:r>
              <a:rPr lang="nl-NL" sz="2000" dirty="0"/>
              <a:t> </a:t>
            </a:r>
            <a:r>
              <a:rPr lang="nl-NL" sz="2000"/>
              <a:t>explain</a:t>
            </a:r>
            <a:r>
              <a:rPr lang="nl-NL" sz="2000" dirty="0"/>
              <a:t> </a:t>
            </a:r>
            <a:r>
              <a:rPr lang="nl-NL" sz="2000"/>
              <a:t>the change in performance.</a:t>
            </a:r>
          </a:p>
          <a:p>
            <a:r>
              <a:rPr lang="nl-NL" sz="2000"/>
              <a:t>At the 45 deg. azimuth</a:t>
            </a:r>
            <a:r>
              <a:rPr lang="nl-NL" sz="2000" dirty="0"/>
              <a:t> </a:t>
            </a:r>
            <a:r>
              <a:rPr lang="nl-NL" sz="2000"/>
              <a:t>angle</a:t>
            </a:r>
            <a:r>
              <a:rPr lang="nl-NL" sz="2000" dirty="0"/>
              <a:t> </a:t>
            </a:r>
            <a:r>
              <a:rPr lang="nl-NL" sz="2000"/>
              <a:t>and zero elevation, move the</a:t>
            </a:r>
            <a:r>
              <a:rPr lang="nl-NL" sz="2000" dirty="0"/>
              <a:t> </a:t>
            </a:r>
            <a:r>
              <a:rPr lang="nl-NL" sz="2000"/>
              <a:t>Tx</a:t>
            </a:r>
            <a:r>
              <a:rPr lang="nl-NL" sz="2000" dirty="0"/>
              <a:t> </a:t>
            </a:r>
            <a:r>
              <a:rPr lang="nl-NL" sz="2000"/>
              <a:t>to</a:t>
            </a:r>
            <a:r>
              <a:rPr lang="nl-NL" sz="2000" dirty="0"/>
              <a:t> </a:t>
            </a:r>
            <a:r>
              <a:rPr lang="nl-NL" sz="2000"/>
              <a:t>further</a:t>
            </a:r>
            <a:r>
              <a:rPr lang="nl-NL" sz="2000" dirty="0"/>
              <a:t> </a:t>
            </a:r>
            <a:r>
              <a:rPr lang="nl-NL" sz="2000"/>
              <a:t>distances. Apply</a:t>
            </a:r>
            <a:r>
              <a:rPr lang="nl-NL" sz="2000" dirty="0"/>
              <a:t> </a:t>
            </a:r>
            <a:r>
              <a:rPr lang="nl-NL" sz="2000"/>
              <a:t>beam steering the</a:t>
            </a:r>
            <a:r>
              <a:rPr lang="nl-NL" sz="2000" dirty="0"/>
              <a:t> </a:t>
            </a:r>
            <a:r>
              <a:rPr lang="nl-NL" sz="2000"/>
              <a:t>find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 </a:t>
            </a:r>
            <a:r>
              <a:rPr lang="nl-NL" sz="2000"/>
              <a:t>DoA</a:t>
            </a:r>
            <a:r>
              <a:rPr lang="nl-NL" sz="2000" dirty="0"/>
              <a:t> </a:t>
            </a:r>
            <a:r>
              <a:rPr lang="nl-NL" sz="2000"/>
              <a:t>and</a:t>
            </a:r>
            <a:r>
              <a:rPr lang="nl-NL" sz="2000" dirty="0"/>
              <a:t> </a:t>
            </a:r>
            <a:r>
              <a:rPr lang="nl-NL" sz="2000"/>
              <a:t>explain</a:t>
            </a:r>
            <a:r>
              <a:rPr lang="nl-NL" sz="2000" dirty="0"/>
              <a:t> </a:t>
            </a:r>
            <a:r>
              <a:rPr lang="nl-NL" sz="2000"/>
              <a:t>the change in performance.</a:t>
            </a:r>
          </a:p>
          <a:p>
            <a:r>
              <a:rPr lang="nl-NL" sz="2000"/>
              <a:t>Hold</a:t>
            </a:r>
            <a:r>
              <a:rPr lang="nl-NL" sz="2000" dirty="0"/>
              <a:t> </a:t>
            </a:r>
            <a:r>
              <a:rPr lang="nl-NL" sz="2000"/>
              <a:t>two</a:t>
            </a:r>
            <a:r>
              <a:rPr lang="nl-NL" sz="2000" dirty="0"/>
              <a:t> </a:t>
            </a:r>
            <a:r>
              <a:rPr lang="nl-NL" sz="2000"/>
              <a:t>Tx's at relatively short distance. One</a:t>
            </a:r>
            <a:r>
              <a:rPr lang="nl-NL" sz="2000" dirty="0"/>
              <a:t> </a:t>
            </a:r>
            <a:r>
              <a:rPr lang="nl-NL" sz="2000"/>
              <a:t>will</a:t>
            </a:r>
            <a:r>
              <a:rPr lang="nl-NL" sz="2000" dirty="0"/>
              <a:t> </a:t>
            </a:r>
            <a:r>
              <a:rPr lang="nl-NL" sz="2000"/>
              <a:t>stay</a:t>
            </a:r>
            <a:r>
              <a:rPr lang="nl-NL" sz="2000" dirty="0"/>
              <a:t> </a:t>
            </a:r>
            <a:r>
              <a:rPr lang="nl-NL" sz="2000"/>
              <a:t>fixed on broadside. Move the</a:t>
            </a:r>
            <a:r>
              <a:rPr lang="nl-NL" sz="2000" dirty="0"/>
              <a:t> </a:t>
            </a:r>
            <a:r>
              <a:rPr lang="nl-NL" sz="2000"/>
              <a:t>other</a:t>
            </a:r>
            <a:r>
              <a:rPr lang="nl-NL" sz="2000" dirty="0"/>
              <a:t> </a:t>
            </a:r>
            <a:r>
              <a:rPr lang="nl-NL" sz="2000"/>
              <a:t>Tx</a:t>
            </a:r>
            <a:r>
              <a:rPr lang="nl-NL" sz="2000" dirty="0"/>
              <a:t> </a:t>
            </a:r>
            <a:r>
              <a:rPr lang="nl-NL" sz="2000"/>
              <a:t>at similar</a:t>
            </a:r>
            <a:r>
              <a:rPr lang="nl-NL" sz="2000" dirty="0"/>
              <a:t> </a:t>
            </a:r>
            <a:r>
              <a:rPr lang="nl-NL" sz="2000"/>
              <a:t>distance</a:t>
            </a:r>
            <a:r>
              <a:rPr lang="nl-NL" sz="2000" dirty="0"/>
              <a:t> </a:t>
            </a:r>
            <a:r>
              <a:rPr lang="nl-NL" sz="2000"/>
              <a:t>to</a:t>
            </a:r>
            <a:r>
              <a:rPr lang="nl-NL" sz="2000" dirty="0"/>
              <a:t> </a:t>
            </a:r>
            <a:r>
              <a:rPr lang="nl-NL" sz="2000"/>
              <a:t>further</a:t>
            </a:r>
            <a:r>
              <a:rPr lang="nl-NL" sz="2000" dirty="0"/>
              <a:t> </a:t>
            </a:r>
            <a:r>
              <a:rPr lang="nl-NL" sz="2000"/>
              <a:t>azimuth</a:t>
            </a:r>
            <a:r>
              <a:rPr lang="nl-NL" sz="2000" dirty="0"/>
              <a:t> </a:t>
            </a:r>
            <a:r>
              <a:rPr lang="nl-NL" sz="2000"/>
              <a:t>angles. Apply</a:t>
            </a:r>
            <a:r>
              <a:rPr lang="nl-NL" sz="2000" dirty="0"/>
              <a:t> </a:t>
            </a:r>
            <a:r>
              <a:rPr lang="nl-NL" sz="2000"/>
              <a:t>beam steering and</a:t>
            </a:r>
            <a:r>
              <a:rPr lang="nl-NL" sz="2000" dirty="0"/>
              <a:t> </a:t>
            </a:r>
            <a:r>
              <a:rPr lang="nl-NL" sz="2000"/>
              <a:t>see</a:t>
            </a:r>
            <a:r>
              <a:rPr lang="nl-NL" sz="2000" dirty="0"/>
              <a:t> </a:t>
            </a:r>
            <a:r>
              <a:rPr lang="nl-NL" sz="2000"/>
              <a:t>if/when</a:t>
            </a:r>
            <a:r>
              <a:rPr lang="nl-NL" sz="2000" dirty="0"/>
              <a:t> </a:t>
            </a:r>
            <a:r>
              <a:rPr lang="nl-NL" sz="2000"/>
              <a:t>you</a:t>
            </a:r>
            <a:r>
              <a:rPr lang="nl-NL" sz="2000" dirty="0"/>
              <a:t> </a:t>
            </a:r>
            <a:r>
              <a:rPr lang="nl-NL" sz="2000"/>
              <a:t>can</a:t>
            </a:r>
            <a:r>
              <a:rPr lang="nl-NL" sz="2000" dirty="0"/>
              <a:t> </a:t>
            </a:r>
            <a:r>
              <a:rPr lang="nl-NL" sz="2000"/>
              <a:t>resolve</a:t>
            </a:r>
            <a:r>
              <a:rPr lang="nl-NL" sz="2000" dirty="0"/>
              <a:t> </a:t>
            </a:r>
            <a:r>
              <a:rPr lang="nl-NL" sz="2000"/>
              <a:t>the</a:t>
            </a:r>
            <a:r>
              <a:rPr lang="nl-NL" sz="2000" dirty="0"/>
              <a:t> </a:t>
            </a:r>
            <a:r>
              <a:rPr lang="nl-NL" sz="2000"/>
              <a:t>Tx</a:t>
            </a:r>
            <a:r>
              <a:rPr lang="nl-NL" sz="2000" dirty="0"/>
              <a:t> </a:t>
            </a:r>
            <a:r>
              <a:rPr lang="nl-NL" sz="2000"/>
              <a:t>angles.</a:t>
            </a:r>
          </a:p>
          <a:p>
            <a:r>
              <a:rPr lang="nl-NL" sz="2000"/>
              <a:t>Hold one Tx at 45 deg in azimuth, and place a plate reflector at –25 deg &amp; -50 deg in azimuth. Apply beam steering and see if you can resolve the Tx and the plate.</a:t>
            </a:r>
            <a:endParaRPr lang="nl-NL" sz="2000" dirty="0"/>
          </a:p>
          <a:p>
            <a:endParaRPr lang="nl-NL" sz="2000"/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343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6EDA-C302-2534-6BD4-D7C2DC7D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F137E-188C-22FC-0BBC-8838E4D0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5"/>
            <a:ext cx="10515600" cy="689318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DoA</a:t>
            </a:r>
            <a:r>
              <a:rPr lang="nl-NL" dirty="0"/>
              <a:t> performance </a:t>
            </a:r>
            <a:r>
              <a:rPr lang="nl-NL" dirty="0" err="1"/>
              <a:t>results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CAD663-6543-1AA7-91D0-74377513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10515600" cy="7152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err="1"/>
              <a:t>With</a:t>
            </a:r>
            <a:r>
              <a:rPr lang="nl-NL" sz="2000" dirty="0"/>
              <a:t> </a:t>
            </a:r>
            <a:r>
              <a:rPr lang="nl-NL" sz="2000" err="1"/>
              <a:t>one</a:t>
            </a:r>
            <a:r>
              <a:rPr lang="nl-NL" sz="2000" dirty="0"/>
              <a:t> source: </a:t>
            </a:r>
            <a:r>
              <a:rPr lang="nl-NL" sz="2000" err="1"/>
              <a:t>sharp</a:t>
            </a:r>
            <a:r>
              <a:rPr lang="nl-NL" sz="2000" dirty="0"/>
              <a:t> performance </a:t>
            </a:r>
            <a:r>
              <a:rPr lang="nl-NL" sz="2000" err="1"/>
              <a:t>degradation</a:t>
            </a:r>
            <a:r>
              <a:rPr lang="nl-NL" sz="2000" dirty="0"/>
              <a:t> </a:t>
            </a:r>
            <a:r>
              <a:rPr lang="nl-NL" sz="2000" err="1"/>
              <a:t>after</a:t>
            </a:r>
            <a:r>
              <a:rPr lang="nl-NL" sz="2000" dirty="0"/>
              <a:t> </a:t>
            </a:r>
            <a:r>
              <a:rPr lang="nl-NL" sz="2000" err="1"/>
              <a:t>roughly</a:t>
            </a:r>
            <a:r>
              <a:rPr lang="nl-NL" sz="2000" dirty="0"/>
              <a:t> 60 </a:t>
            </a:r>
            <a:r>
              <a:rPr lang="nl-NL" sz="2000" err="1"/>
              <a:t>degrees</a:t>
            </a:r>
            <a:r>
              <a:rPr lang="nl-NL" sz="2000" dirty="0"/>
              <a:t>. </a:t>
            </a:r>
            <a:r>
              <a:rPr lang="nl-NL" sz="2000" err="1"/>
              <a:t>Insert</a:t>
            </a:r>
            <a:r>
              <a:rPr lang="nl-NL" sz="2000" dirty="0"/>
              <a:t> </a:t>
            </a:r>
            <a:r>
              <a:rPr lang="nl-NL" sz="2000" err="1"/>
              <a:t>picutres</a:t>
            </a:r>
            <a:r>
              <a:rPr lang="nl-NL" sz="2000" dirty="0"/>
              <a:t>: 3 tests, source at 0 </a:t>
            </a:r>
            <a:r>
              <a:rPr lang="nl-NL" sz="2000" err="1"/>
              <a:t>deg</a:t>
            </a:r>
            <a:r>
              <a:rPr lang="nl-NL" sz="2000" dirty="0"/>
              <a:t>, 45 </a:t>
            </a:r>
            <a:r>
              <a:rPr lang="nl-NL" sz="2000" err="1"/>
              <a:t>deg</a:t>
            </a:r>
            <a:r>
              <a:rPr lang="nl-NL" sz="2000" dirty="0"/>
              <a:t> </a:t>
            </a:r>
            <a:r>
              <a:rPr lang="nl-NL" sz="2000" err="1"/>
              <a:t>and</a:t>
            </a:r>
            <a:r>
              <a:rPr lang="nl-NL" sz="2000" dirty="0"/>
              <a:t> 75 </a:t>
            </a:r>
            <a:r>
              <a:rPr lang="nl-NL" sz="2000" err="1"/>
              <a:t>deg</a:t>
            </a:r>
            <a:r>
              <a:rPr lang="nl-NL" sz="2000" dirty="0"/>
              <a:t>. For </a:t>
            </a:r>
            <a:r>
              <a:rPr lang="nl-NL" sz="2000" err="1"/>
              <a:t>the</a:t>
            </a:r>
            <a:r>
              <a:rPr lang="nl-NL" sz="2000" dirty="0"/>
              <a:t> last </a:t>
            </a:r>
            <a:r>
              <a:rPr lang="nl-NL" sz="2000"/>
              <a:t>one, target appears to be closer.</a:t>
            </a:r>
            <a:endParaRPr lang="en-US"/>
          </a:p>
          <a:p>
            <a:endParaRPr lang="nl-NL" sz="2000"/>
          </a:p>
          <a:p>
            <a:pPr lvl="1"/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BB514-18E9-61C0-1721-4AF2A844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8" y="2692881"/>
            <a:ext cx="4263641" cy="300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76C06-8EB9-C4C9-58D1-775E2B3ED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25" y="2692880"/>
            <a:ext cx="4240550" cy="2996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44D44-A76C-186A-9813-030B78963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966" y="2692881"/>
            <a:ext cx="4125096" cy="29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52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9F82A40-F284-527E-B6ED-C1DE04DD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5"/>
            <a:ext cx="10515600" cy="689318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DoA</a:t>
            </a:r>
            <a:r>
              <a:rPr lang="nl-NL" dirty="0"/>
              <a:t> performance </a:t>
            </a:r>
            <a:r>
              <a:rPr lang="nl-NL" dirty="0" err="1"/>
              <a:t>results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637715E2-A81F-8317-40B0-7044D23A5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10515600" cy="7152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/>
              <a:t>With two sources</a:t>
            </a:r>
            <a:endParaRPr lang="en-US"/>
          </a:p>
          <a:p>
            <a:endParaRPr lang="nl-NL" sz="2000"/>
          </a:p>
          <a:p>
            <a:pPr lvl="1"/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0E6E24-569C-8341-7698-5032CEDD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748" y="769697"/>
            <a:ext cx="8113295" cy="577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27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161D-60F0-1B3E-D084-2F00F0E2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FAB3500-9BC8-8B02-86CC-582727FF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5"/>
            <a:ext cx="10515600" cy="689318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DoA</a:t>
            </a:r>
            <a:r>
              <a:rPr lang="nl-NL" dirty="0"/>
              <a:t> performance </a:t>
            </a:r>
            <a:r>
              <a:rPr lang="nl-NL" dirty="0" err="1"/>
              <a:t>results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3B95344C-067D-FBFF-E628-3BE69E904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5527964" cy="6768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/>
              <a:t>With one source and a reflector</a:t>
            </a:r>
            <a:endParaRPr lang="en-US"/>
          </a:p>
          <a:p>
            <a:endParaRPr lang="nl-NL" sz="2000"/>
          </a:p>
          <a:p>
            <a:pPr lvl="1"/>
            <a:endParaRPr lang="nl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D1975A-164B-EC8A-DAF2-09F4745CD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8" y="2213948"/>
            <a:ext cx="12192000" cy="41892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ABFB1-A9DE-C386-8CAA-F56C169F2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900" y="104006"/>
            <a:ext cx="4283653" cy="226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403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773f0e-8513-4090-84ac-e20ce6635a8d" xsi:nil="true"/>
    <lcf76f155ced4ddcb4097134ff3c332f xmlns="7d4ea63d-71a1-47f3-a5c1-2bf50ef32ac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B941E8D8D7EC4399F51E943B7310BB" ma:contentTypeVersion="15" ma:contentTypeDescription="Create a new document." ma:contentTypeScope="" ma:versionID="abbf2459be6fb63a81eeb2ba95bb70a1">
  <xsd:schema xmlns:xsd="http://www.w3.org/2001/XMLSchema" xmlns:xs="http://www.w3.org/2001/XMLSchema" xmlns:p="http://schemas.microsoft.com/office/2006/metadata/properties" xmlns:ns2="7d4ea63d-71a1-47f3-a5c1-2bf50ef32ac8" xmlns:ns3="81773f0e-8513-4090-84ac-e20ce6635a8d" targetNamespace="http://schemas.microsoft.com/office/2006/metadata/properties" ma:root="true" ma:fieldsID="e27a4460667f1e8f911276ae6c0da5a3" ns2:_="" ns3:_="">
    <xsd:import namespace="7d4ea63d-71a1-47f3-a5c1-2bf50ef32ac8"/>
    <xsd:import namespace="81773f0e-8513-4090-84ac-e20ce6635a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ea63d-71a1-47f3-a5c1-2bf50ef32a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d2f2e1c-c095-4710-afda-8e7acdb03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73f0e-8513-4090-84ac-e20ce6635a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8faa6eb-8d1a-456f-84b8-42906935e3d6}" ma:internalName="TaxCatchAll" ma:showField="CatchAllData" ma:web="81773f0e-8513-4090-84ac-e20ce6635a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DEFD08-6401-496B-B8A3-340F7C3C1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B21E7B-EBE3-4220-BCDE-587AAC51BBC5}">
  <ds:schemaRefs>
    <ds:schemaRef ds:uri="7d4ea63d-71a1-47f3-a5c1-2bf50ef32ac8"/>
    <ds:schemaRef ds:uri="81773f0e-8513-4090-84ac-e20ce6635a8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BB8D7F-69E3-4664-9F6D-29F20D58B9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4ea63d-71a1-47f3-a5c1-2bf50ef32ac8"/>
    <ds:schemaRef ds:uri="81773f0e-8513-4090-84ac-e20ce6635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96e524d-6929-4030-8cd3-8ab42de0887b}" enabled="0" method="" siteId="{096e524d-6929-4030-8cd3-8ab42de088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Kantoorthema</vt:lpstr>
      <vt:lpstr>Proposed practicum projects</vt:lpstr>
      <vt:lpstr>MTI-filter selection </vt:lpstr>
      <vt:lpstr>MTI filter selection (results)</vt:lpstr>
      <vt:lpstr>Hybrid Beamforming (fixed subarrays)</vt:lpstr>
      <vt:lpstr>Hybrid beamforming (fixed subarrays) (results)</vt:lpstr>
      <vt:lpstr>Quantization in phased-array beamforming</vt:lpstr>
      <vt:lpstr>Quantization in phased-array beamforming (results)</vt:lpstr>
      <vt:lpstr>Calibration accuracy</vt:lpstr>
      <vt:lpstr>Calibration accuracy (results)</vt:lpstr>
      <vt:lpstr>Wave Polarization: Dihedral Corner Reflector</vt:lpstr>
      <vt:lpstr>Wave Polarization: Dihedral Corner Reflector (Results)</vt:lpstr>
      <vt:lpstr>Fan micro-Doppler investigation</vt:lpstr>
      <vt:lpstr>Fan micro-Doppler investigation (results)</vt:lpstr>
      <vt:lpstr>DoA performance</vt:lpstr>
      <vt:lpstr>DoA performance results</vt:lpstr>
      <vt:lpstr>DoA performance results</vt:lpstr>
      <vt:lpstr>DoA performance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practicum projects</dc:title>
  <dc:creator>Nick Cancrinus</dc:creator>
  <cp:revision>113</cp:revision>
  <dcterms:created xsi:type="dcterms:W3CDTF">2025-09-22T13:23:45Z</dcterms:created>
  <dcterms:modified xsi:type="dcterms:W3CDTF">2026-06-09T09:16:13Z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0x0101005EB941E8D8D7EC4399F51E943B7310BB</vt:lpwstr>
  </property>
  <property fmtid="{D5CDD505-2E9C-101B-9397-08002B2CF9AE}" pid="3" name="MediaServiceImageTags">
    <vt:lpwstr/>
  </property>
</Properties>
</file>